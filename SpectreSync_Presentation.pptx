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5765800" cy="3244850"/>
  <p:notesSz cx="5765800" cy="3244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63" d="100"/>
          <a:sy n="163" d="100"/>
        </p:scale>
        <p:origin x="228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2435" y="1005903"/>
            <a:ext cx="4900930" cy="6814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rgbClr val="C9F5C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50" b="0" i="0">
                <a:solidFill>
                  <a:srgbClr val="74A982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4BF07A"/>
                </a:solidFill>
                <a:latin typeface="Courier New"/>
                <a:cs typeface="Courier New"/>
              </a:defRPr>
            </a:lvl1pPr>
          </a:lstStyle>
          <a:p>
            <a:pPr marL="63500">
              <a:lnSpc>
                <a:spcPct val="100000"/>
              </a:lnSpc>
              <a:spcBef>
                <a:spcPts val="114"/>
              </a:spcBef>
            </a:pPr>
            <a:fld id="{81D60167-4931-47E6-BA6A-407CBD079E47}" type="slidenum">
              <a:rPr spc="-25" dirty="0"/>
              <a:t>‹#›</a:t>
            </a:fld>
            <a:r>
              <a:rPr spc="-25" dirty="0"/>
              <a:t>/9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rgbClr val="C9F5C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rgbClr val="74A982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4BF07A"/>
                </a:solidFill>
                <a:latin typeface="Courier New"/>
                <a:cs typeface="Courier New"/>
              </a:defRPr>
            </a:lvl1pPr>
          </a:lstStyle>
          <a:p>
            <a:pPr marL="63500">
              <a:lnSpc>
                <a:spcPct val="100000"/>
              </a:lnSpc>
              <a:spcBef>
                <a:spcPts val="114"/>
              </a:spcBef>
            </a:pPr>
            <a:fld id="{81D60167-4931-47E6-BA6A-407CBD079E47}" type="slidenum">
              <a:rPr spc="-25" dirty="0"/>
              <a:t>‹#›</a:t>
            </a:fld>
            <a:r>
              <a:rPr spc="-25" dirty="0"/>
              <a:t>/9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rgbClr val="C9F5C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4BF07A"/>
                </a:solidFill>
                <a:latin typeface="Courier New"/>
                <a:cs typeface="Courier New"/>
              </a:defRPr>
            </a:lvl1pPr>
          </a:lstStyle>
          <a:p>
            <a:pPr marL="63500">
              <a:lnSpc>
                <a:spcPct val="100000"/>
              </a:lnSpc>
              <a:spcBef>
                <a:spcPts val="114"/>
              </a:spcBef>
            </a:pPr>
            <a:fld id="{81D60167-4931-47E6-BA6A-407CBD079E47}" type="slidenum">
              <a:rPr spc="-25" dirty="0"/>
              <a:t>‹#›</a:t>
            </a:fld>
            <a:r>
              <a:rPr spc="-25" dirty="0"/>
              <a:t>/9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rgbClr val="C9F5C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4BF07A"/>
                </a:solidFill>
                <a:latin typeface="Courier New"/>
                <a:cs typeface="Courier New"/>
              </a:defRPr>
            </a:lvl1pPr>
          </a:lstStyle>
          <a:p>
            <a:pPr marL="63500">
              <a:lnSpc>
                <a:spcPct val="100000"/>
              </a:lnSpc>
              <a:spcBef>
                <a:spcPts val="114"/>
              </a:spcBef>
            </a:pPr>
            <a:fld id="{81D60167-4931-47E6-BA6A-407CBD079E47}" type="slidenum">
              <a:rPr spc="-25" dirty="0"/>
              <a:t>‹#›</a:t>
            </a:fld>
            <a:r>
              <a:rPr spc="-25" dirty="0"/>
              <a:t>/9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4BF07A"/>
                </a:solidFill>
                <a:latin typeface="Courier New"/>
                <a:cs typeface="Courier New"/>
              </a:defRPr>
            </a:lvl1pPr>
          </a:lstStyle>
          <a:p>
            <a:pPr marL="63500">
              <a:lnSpc>
                <a:spcPct val="100000"/>
              </a:lnSpc>
              <a:spcBef>
                <a:spcPts val="114"/>
              </a:spcBef>
            </a:pPr>
            <a:fld id="{81D60167-4931-47E6-BA6A-407CBD079E47}" type="slidenum">
              <a:rPr spc="-25" dirty="0"/>
              <a:t>‹#›</a:t>
            </a:fld>
            <a:r>
              <a:rPr spc="-25" dirty="0"/>
              <a:t>/9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9" y="3239999"/>
                </a:moveTo>
                <a:lnTo>
                  <a:pt x="0" y="3239999"/>
                </a:lnTo>
                <a:lnTo>
                  <a:pt x="0" y="0"/>
                </a:lnTo>
                <a:lnTo>
                  <a:pt x="5759999" y="0"/>
                </a:lnTo>
                <a:lnTo>
                  <a:pt x="5759999" y="3239999"/>
                </a:lnTo>
                <a:close/>
              </a:path>
            </a:pathLst>
          </a:custGeom>
          <a:solidFill>
            <a:srgbClr val="0A110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15240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8890">
            <a:solidFill>
              <a:srgbClr val="0E18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45720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8890">
            <a:solidFill>
              <a:srgbClr val="0E18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76200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8890">
            <a:solidFill>
              <a:srgbClr val="0E18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0" y="106679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8890">
            <a:solidFill>
              <a:srgbClr val="0E18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0" y="137160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8890">
            <a:solidFill>
              <a:srgbClr val="0E18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0" y="167640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8890">
            <a:solidFill>
              <a:srgbClr val="0E18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0" y="198120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8890">
            <a:solidFill>
              <a:srgbClr val="0E18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0" y="228600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8890">
            <a:solidFill>
              <a:srgbClr val="0E18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0" y="259079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8890">
            <a:solidFill>
              <a:srgbClr val="0E18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0" y="289560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8890">
            <a:solidFill>
              <a:srgbClr val="0E18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0" y="320040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8890">
            <a:solidFill>
              <a:srgbClr val="0E18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0" y="350520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8890">
            <a:solidFill>
              <a:srgbClr val="0E18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0" y="381000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8890">
            <a:solidFill>
              <a:srgbClr val="0E18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0" y="411479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8890">
            <a:solidFill>
              <a:srgbClr val="0E18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0" y="441960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8890">
            <a:solidFill>
              <a:srgbClr val="0E18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g object 32"/>
          <p:cNvSpPr/>
          <p:nvPr/>
        </p:nvSpPr>
        <p:spPr>
          <a:xfrm>
            <a:off x="0" y="472440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8890">
            <a:solidFill>
              <a:srgbClr val="0E18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g object 33"/>
          <p:cNvSpPr/>
          <p:nvPr/>
        </p:nvSpPr>
        <p:spPr>
          <a:xfrm>
            <a:off x="0" y="502920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8890">
            <a:solidFill>
              <a:srgbClr val="0E18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bg object 34"/>
          <p:cNvSpPr/>
          <p:nvPr/>
        </p:nvSpPr>
        <p:spPr>
          <a:xfrm>
            <a:off x="0" y="533400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8890">
            <a:solidFill>
              <a:srgbClr val="0E18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bg object 35"/>
          <p:cNvSpPr/>
          <p:nvPr/>
        </p:nvSpPr>
        <p:spPr>
          <a:xfrm>
            <a:off x="0" y="563879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8890">
            <a:solidFill>
              <a:srgbClr val="0E18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bg object 36"/>
          <p:cNvSpPr/>
          <p:nvPr/>
        </p:nvSpPr>
        <p:spPr>
          <a:xfrm>
            <a:off x="0" y="594360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8890">
            <a:solidFill>
              <a:srgbClr val="0E18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bg object 37"/>
          <p:cNvSpPr/>
          <p:nvPr/>
        </p:nvSpPr>
        <p:spPr>
          <a:xfrm>
            <a:off x="0" y="624840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8890">
            <a:solidFill>
              <a:srgbClr val="0E18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bg object 38"/>
          <p:cNvSpPr/>
          <p:nvPr/>
        </p:nvSpPr>
        <p:spPr>
          <a:xfrm>
            <a:off x="0" y="655320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8890">
            <a:solidFill>
              <a:srgbClr val="0E18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bg object 39"/>
          <p:cNvSpPr/>
          <p:nvPr/>
        </p:nvSpPr>
        <p:spPr>
          <a:xfrm>
            <a:off x="0" y="685800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8890">
            <a:solidFill>
              <a:srgbClr val="0E18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bg object 40"/>
          <p:cNvSpPr/>
          <p:nvPr/>
        </p:nvSpPr>
        <p:spPr>
          <a:xfrm>
            <a:off x="0" y="716279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8890">
            <a:solidFill>
              <a:srgbClr val="0E18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bg object 41"/>
          <p:cNvSpPr/>
          <p:nvPr/>
        </p:nvSpPr>
        <p:spPr>
          <a:xfrm>
            <a:off x="0" y="746760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8890">
            <a:solidFill>
              <a:srgbClr val="0E18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bg object 42"/>
          <p:cNvSpPr/>
          <p:nvPr/>
        </p:nvSpPr>
        <p:spPr>
          <a:xfrm>
            <a:off x="0" y="777240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8890">
            <a:solidFill>
              <a:srgbClr val="0E18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bg object 43"/>
          <p:cNvSpPr/>
          <p:nvPr/>
        </p:nvSpPr>
        <p:spPr>
          <a:xfrm>
            <a:off x="0" y="807720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8890">
            <a:solidFill>
              <a:srgbClr val="0E18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bg object 44"/>
          <p:cNvSpPr/>
          <p:nvPr/>
        </p:nvSpPr>
        <p:spPr>
          <a:xfrm>
            <a:off x="0" y="838200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8890">
            <a:solidFill>
              <a:srgbClr val="0E18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bg object 45"/>
          <p:cNvSpPr/>
          <p:nvPr/>
        </p:nvSpPr>
        <p:spPr>
          <a:xfrm>
            <a:off x="0" y="868679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8890">
            <a:solidFill>
              <a:srgbClr val="0E18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bg object 46"/>
          <p:cNvSpPr/>
          <p:nvPr/>
        </p:nvSpPr>
        <p:spPr>
          <a:xfrm>
            <a:off x="0" y="899159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8890">
            <a:solidFill>
              <a:srgbClr val="0E18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bg object 47"/>
          <p:cNvSpPr/>
          <p:nvPr/>
        </p:nvSpPr>
        <p:spPr>
          <a:xfrm>
            <a:off x="0" y="929640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8890">
            <a:solidFill>
              <a:srgbClr val="0E18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bg object 48"/>
          <p:cNvSpPr/>
          <p:nvPr/>
        </p:nvSpPr>
        <p:spPr>
          <a:xfrm>
            <a:off x="0" y="960120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8890">
            <a:solidFill>
              <a:srgbClr val="0E18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bg object 49"/>
          <p:cNvSpPr/>
          <p:nvPr/>
        </p:nvSpPr>
        <p:spPr>
          <a:xfrm>
            <a:off x="0" y="990600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8890">
            <a:solidFill>
              <a:srgbClr val="0E18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bg object 50"/>
          <p:cNvSpPr/>
          <p:nvPr/>
        </p:nvSpPr>
        <p:spPr>
          <a:xfrm>
            <a:off x="0" y="1021079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8890">
            <a:solidFill>
              <a:srgbClr val="0E18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bg object 51"/>
          <p:cNvSpPr/>
          <p:nvPr/>
        </p:nvSpPr>
        <p:spPr>
          <a:xfrm>
            <a:off x="0" y="1051559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8890">
            <a:solidFill>
              <a:srgbClr val="0E18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bg object 52"/>
          <p:cNvSpPr/>
          <p:nvPr/>
        </p:nvSpPr>
        <p:spPr>
          <a:xfrm>
            <a:off x="0" y="1082040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8890">
            <a:solidFill>
              <a:srgbClr val="0E18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bg object 53"/>
          <p:cNvSpPr/>
          <p:nvPr/>
        </p:nvSpPr>
        <p:spPr>
          <a:xfrm>
            <a:off x="0" y="1112520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8890">
            <a:solidFill>
              <a:srgbClr val="0E18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bg object 54"/>
          <p:cNvSpPr/>
          <p:nvPr/>
        </p:nvSpPr>
        <p:spPr>
          <a:xfrm>
            <a:off x="0" y="1143000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8890">
            <a:solidFill>
              <a:srgbClr val="0E18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bg object 55"/>
          <p:cNvSpPr/>
          <p:nvPr/>
        </p:nvSpPr>
        <p:spPr>
          <a:xfrm>
            <a:off x="0" y="1173479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8890">
            <a:solidFill>
              <a:srgbClr val="0E18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bg object 56"/>
          <p:cNvSpPr/>
          <p:nvPr/>
        </p:nvSpPr>
        <p:spPr>
          <a:xfrm>
            <a:off x="0" y="1203959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8890">
            <a:solidFill>
              <a:srgbClr val="0E18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bg object 57"/>
          <p:cNvSpPr/>
          <p:nvPr/>
        </p:nvSpPr>
        <p:spPr>
          <a:xfrm>
            <a:off x="0" y="1234440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8890">
            <a:solidFill>
              <a:srgbClr val="0E18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bg object 58"/>
          <p:cNvSpPr/>
          <p:nvPr/>
        </p:nvSpPr>
        <p:spPr>
          <a:xfrm>
            <a:off x="0" y="1264920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8890">
            <a:solidFill>
              <a:srgbClr val="0E18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bg object 59"/>
          <p:cNvSpPr/>
          <p:nvPr/>
        </p:nvSpPr>
        <p:spPr>
          <a:xfrm>
            <a:off x="0" y="1295400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8890">
            <a:solidFill>
              <a:srgbClr val="0E18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bg object 60"/>
          <p:cNvSpPr/>
          <p:nvPr/>
        </p:nvSpPr>
        <p:spPr>
          <a:xfrm>
            <a:off x="0" y="1325879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8890">
            <a:solidFill>
              <a:srgbClr val="0E18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bg object 61"/>
          <p:cNvSpPr/>
          <p:nvPr/>
        </p:nvSpPr>
        <p:spPr>
          <a:xfrm>
            <a:off x="0" y="1356359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8890">
            <a:solidFill>
              <a:srgbClr val="0E18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bg object 62"/>
          <p:cNvSpPr/>
          <p:nvPr/>
        </p:nvSpPr>
        <p:spPr>
          <a:xfrm>
            <a:off x="0" y="1386840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8890">
            <a:solidFill>
              <a:srgbClr val="0E18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bg object 63"/>
          <p:cNvSpPr/>
          <p:nvPr/>
        </p:nvSpPr>
        <p:spPr>
          <a:xfrm>
            <a:off x="0" y="1417320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8890">
            <a:solidFill>
              <a:srgbClr val="0E18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bg object 64"/>
          <p:cNvSpPr/>
          <p:nvPr/>
        </p:nvSpPr>
        <p:spPr>
          <a:xfrm>
            <a:off x="0" y="1447800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8890">
            <a:solidFill>
              <a:srgbClr val="0E18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bg object 65"/>
          <p:cNvSpPr/>
          <p:nvPr/>
        </p:nvSpPr>
        <p:spPr>
          <a:xfrm>
            <a:off x="0" y="1478279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8890">
            <a:solidFill>
              <a:srgbClr val="0E18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bg object 66"/>
          <p:cNvSpPr/>
          <p:nvPr/>
        </p:nvSpPr>
        <p:spPr>
          <a:xfrm>
            <a:off x="0" y="1508759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8890">
            <a:solidFill>
              <a:srgbClr val="0E18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bg object 67"/>
          <p:cNvSpPr/>
          <p:nvPr/>
        </p:nvSpPr>
        <p:spPr>
          <a:xfrm>
            <a:off x="0" y="1539240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8890">
            <a:solidFill>
              <a:srgbClr val="0E18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bg object 68"/>
          <p:cNvSpPr/>
          <p:nvPr/>
        </p:nvSpPr>
        <p:spPr>
          <a:xfrm>
            <a:off x="0" y="1569720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8890">
            <a:solidFill>
              <a:srgbClr val="0E18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bg object 69"/>
          <p:cNvSpPr/>
          <p:nvPr/>
        </p:nvSpPr>
        <p:spPr>
          <a:xfrm>
            <a:off x="0" y="1600200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8890">
            <a:solidFill>
              <a:srgbClr val="0E18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bg object 70"/>
          <p:cNvSpPr/>
          <p:nvPr/>
        </p:nvSpPr>
        <p:spPr>
          <a:xfrm>
            <a:off x="0" y="1630679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8890">
            <a:solidFill>
              <a:srgbClr val="0E18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bg object 71"/>
          <p:cNvSpPr/>
          <p:nvPr/>
        </p:nvSpPr>
        <p:spPr>
          <a:xfrm>
            <a:off x="0" y="1661159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8890">
            <a:solidFill>
              <a:srgbClr val="0E18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bg object 72"/>
          <p:cNvSpPr/>
          <p:nvPr/>
        </p:nvSpPr>
        <p:spPr>
          <a:xfrm>
            <a:off x="0" y="1691639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8890">
            <a:solidFill>
              <a:srgbClr val="0E18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bg object 73"/>
          <p:cNvSpPr/>
          <p:nvPr/>
        </p:nvSpPr>
        <p:spPr>
          <a:xfrm>
            <a:off x="0" y="1722120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8890">
            <a:solidFill>
              <a:srgbClr val="0E18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bg object 74"/>
          <p:cNvSpPr/>
          <p:nvPr/>
        </p:nvSpPr>
        <p:spPr>
          <a:xfrm>
            <a:off x="0" y="1752599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8890">
            <a:solidFill>
              <a:srgbClr val="0E18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bg object 75"/>
          <p:cNvSpPr/>
          <p:nvPr/>
        </p:nvSpPr>
        <p:spPr>
          <a:xfrm>
            <a:off x="0" y="1783079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8890">
            <a:solidFill>
              <a:srgbClr val="0E18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bg object 76"/>
          <p:cNvSpPr/>
          <p:nvPr/>
        </p:nvSpPr>
        <p:spPr>
          <a:xfrm>
            <a:off x="0" y="1813559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8890">
            <a:solidFill>
              <a:srgbClr val="0E18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bg object 77"/>
          <p:cNvSpPr/>
          <p:nvPr/>
        </p:nvSpPr>
        <p:spPr>
          <a:xfrm>
            <a:off x="0" y="1844039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8890">
            <a:solidFill>
              <a:srgbClr val="0E18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bg object 78"/>
          <p:cNvSpPr/>
          <p:nvPr/>
        </p:nvSpPr>
        <p:spPr>
          <a:xfrm>
            <a:off x="0" y="1874520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8890">
            <a:solidFill>
              <a:srgbClr val="0E18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bg object 79"/>
          <p:cNvSpPr/>
          <p:nvPr/>
        </p:nvSpPr>
        <p:spPr>
          <a:xfrm>
            <a:off x="0" y="1904999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8890">
            <a:solidFill>
              <a:srgbClr val="0E18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bg object 80"/>
          <p:cNvSpPr/>
          <p:nvPr/>
        </p:nvSpPr>
        <p:spPr>
          <a:xfrm>
            <a:off x="0" y="1935479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8890">
            <a:solidFill>
              <a:srgbClr val="0E18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bg object 81"/>
          <p:cNvSpPr/>
          <p:nvPr/>
        </p:nvSpPr>
        <p:spPr>
          <a:xfrm>
            <a:off x="0" y="1965959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8890">
            <a:solidFill>
              <a:srgbClr val="0E18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bg object 82"/>
          <p:cNvSpPr/>
          <p:nvPr/>
        </p:nvSpPr>
        <p:spPr>
          <a:xfrm>
            <a:off x="0" y="1996439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8890">
            <a:solidFill>
              <a:srgbClr val="0E18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bg object 83"/>
          <p:cNvSpPr/>
          <p:nvPr/>
        </p:nvSpPr>
        <p:spPr>
          <a:xfrm>
            <a:off x="0" y="2026920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8890">
            <a:solidFill>
              <a:srgbClr val="0E18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bg object 84"/>
          <p:cNvSpPr/>
          <p:nvPr/>
        </p:nvSpPr>
        <p:spPr>
          <a:xfrm>
            <a:off x="0" y="2057399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8890">
            <a:solidFill>
              <a:srgbClr val="0E18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bg object 85"/>
          <p:cNvSpPr/>
          <p:nvPr/>
        </p:nvSpPr>
        <p:spPr>
          <a:xfrm>
            <a:off x="0" y="2087879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8890">
            <a:solidFill>
              <a:srgbClr val="0E18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bg object 86"/>
          <p:cNvSpPr/>
          <p:nvPr/>
        </p:nvSpPr>
        <p:spPr>
          <a:xfrm>
            <a:off x="0" y="2118359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8890">
            <a:solidFill>
              <a:srgbClr val="0E18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bg object 87"/>
          <p:cNvSpPr/>
          <p:nvPr/>
        </p:nvSpPr>
        <p:spPr>
          <a:xfrm>
            <a:off x="0" y="2148839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8890">
            <a:solidFill>
              <a:srgbClr val="0E18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bg object 88"/>
          <p:cNvSpPr/>
          <p:nvPr/>
        </p:nvSpPr>
        <p:spPr>
          <a:xfrm>
            <a:off x="0" y="2179320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8890">
            <a:solidFill>
              <a:srgbClr val="0E18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bg object 89"/>
          <p:cNvSpPr/>
          <p:nvPr/>
        </p:nvSpPr>
        <p:spPr>
          <a:xfrm>
            <a:off x="0" y="2209799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8890">
            <a:solidFill>
              <a:srgbClr val="0E18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bg object 90"/>
          <p:cNvSpPr/>
          <p:nvPr/>
        </p:nvSpPr>
        <p:spPr>
          <a:xfrm>
            <a:off x="0" y="2240279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8890">
            <a:solidFill>
              <a:srgbClr val="0E18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bg object 91"/>
          <p:cNvSpPr/>
          <p:nvPr/>
        </p:nvSpPr>
        <p:spPr>
          <a:xfrm>
            <a:off x="0" y="2270759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8890">
            <a:solidFill>
              <a:srgbClr val="0E18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bg object 92"/>
          <p:cNvSpPr/>
          <p:nvPr/>
        </p:nvSpPr>
        <p:spPr>
          <a:xfrm>
            <a:off x="0" y="2301239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8890">
            <a:solidFill>
              <a:srgbClr val="0E18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bg object 93"/>
          <p:cNvSpPr/>
          <p:nvPr/>
        </p:nvSpPr>
        <p:spPr>
          <a:xfrm>
            <a:off x="0" y="2331720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8890">
            <a:solidFill>
              <a:srgbClr val="0E18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bg object 94"/>
          <p:cNvSpPr/>
          <p:nvPr/>
        </p:nvSpPr>
        <p:spPr>
          <a:xfrm>
            <a:off x="0" y="2362199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8890">
            <a:solidFill>
              <a:srgbClr val="0E18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bg object 95"/>
          <p:cNvSpPr/>
          <p:nvPr/>
        </p:nvSpPr>
        <p:spPr>
          <a:xfrm>
            <a:off x="0" y="2392679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8890">
            <a:solidFill>
              <a:srgbClr val="0E18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bg object 96"/>
          <p:cNvSpPr/>
          <p:nvPr/>
        </p:nvSpPr>
        <p:spPr>
          <a:xfrm>
            <a:off x="0" y="2423159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8890">
            <a:solidFill>
              <a:srgbClr val="0E18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bg object 97"/>
          <p:cNvSpPr/>
          <p:nvPr/>
        </p:nvSpPr>
        <p:spPr>
          <a:xfrm>
            <a:off x="0" y="2453639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8890">
            <a:solidFill>
              <a:srgbClr val="0E18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bg object 98"/>
          <p:cNvSpPr/>
          <p:nvPr/>
        </p:nvSpPr>
        <p:spPr>
          <a:xfrm>
            <a:off x="0" y="2484120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8890">
            <a:solidFill>
              <a:srgbClr val="0E18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bg object 99"/>
          <p:cNvSpPr/>
          <p:nvPr/>
        </p:nvSpPr>
        <p:spPr>
          <a:xfrm>
            <a:off x="0" y="2514599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8890">
            <a:solidFill>
              <a:srgbClr val="0E18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bg object 100"/>
          <p:cNvSpPr/>
          <p:nvPr/>
        </p:nvSpPr>
        <p:spPr>
          <a:xfrm>
            <a:off x="0" y="2545079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8890">
            <a:solidFill>
              <a:srgbClr val="0E18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bg object 101"/>
          <p:cNvSpPr/>
          <p:nvPr/>
        </p:nvSpPr>
        <p:spPr>
          <a:xfrm>
            <a:off x="0" y="2575559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8890">
            <a:solidFill>
              <a:srgbClr val="0E18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bg object 102"/>
          <p:cNvSpPr/>
          <p:nvPr/>
        </p:nvSpPr>
        <p:spPr>
          <a:xfrm>
            <a:off x="0" y="2606039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8890">
            <a:solidFill>
              <a:srgbClr val="0E18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bg object 103"/>
          <p:cNvSpPr/>
          <p:nvPr/>
        </p:nvSpPr>
        <p:spPr>
          <a:xfrm>
            <a:off x="0" y="2636520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8890">
            <a:solidFill>
              <a:srgbClr val="0E18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bg object 104"/>
          <p:cNvSpPr/>
          <p:nvPr/>
        </p:nvSpPr>
        <p:spPr>
          <a:xfrm>
            <a:off x="0" y="2666999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8890">
            <a:solidFill>
              <a:srgbClr val="0E18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bg object 105"/>
          <p:cNvSpPr/>
          <p:nvPr/>
        </p:nvSpPr>
        <p:spPr>
          <a:xfrm>
            <a:off x="0" y="2697479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8890">
            <a:solidFill>
              <a:srgbClr val="0E18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bg object 106"/>
          <p:cNvSpPr/>
          <p:nvPr/>
        </p:nvSpPr>
        <p:spPr>
          <a:xfrm>
            <a:off x="0" y="2727959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8890">
            <a:solidFill>
              <a:srgbClr val="0E18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bg object 107"/>
          <p:cNvSpPr/>
          <p:nvPr/>
        </p:nvSpPr>
        <p:spPr>
          <a:xfrm>
            <a:off x="0" y="2758439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8890">
            <a:solidFill>
              <a:srgbClr val="0E18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bg object 108"/>
          <p:cNvSpPr/>
          <p:nvPr/>
        </p:nvSpPr>
        <p:spPr>
          <a:xfrm>
            <a:off x="0" y="2788920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8890">
            <a:solidFill>
              <a:srgbClr val="0E18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bg object 109"/>
          <p:cNvSpPr/>
          <p:nvPr/>
        </p:nvSpPr>
        <p:spPr>
          <a:xfrm>
            <a:off x="0" y="2819399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8890">
            <a:solidFill>
              <a:srgbClr val="0E18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bg object 110"/>
          <p:cNvSpPr/>
          <p:nvPr/>
        </p:nvSpPr>
        <p:spPr>
          <a:xfrm>
            <a:off x="0" y="2849879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8890">
            <a:solidFill>
              <a:srgbClr val="0E18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bg object 111"/>
          <p:cNvSpPr/>
          <p:nvPr/>
        </p:nvSpPr>
        <p:spPr>
          <a:xfrm>
            <a:off x="0" y="2880359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8890">
            <a:solidFill>
              <a:srgbClr val="0E18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bg object 112"/>
          <p:cNvSpPr/>
          <p:nvPr/>
        </p:nvSpPr>
        <p:spPr>
          <a:xfrm>
            <a:off x="0" y="2910839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8890">
            <a:solidFill>
              <a:srgbClr val="0E18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bg object 113"/>
          <p:cNvSpPr/>
          <p:nvPr/>
        </p:nvSpPr>
        <p:spPr>
          <a:xfrm>
            <a:off x="0" y="2941320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8890">
            <a:solidFill>
              <a:srgbClr val="0E18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bg object 114"/>
          <p:cNvSpPr/>
          <p:nvPr/>
        </p:nvSpPr>
        <p:spPr>
          <a:xfrm>
            <a:off x="0" y="2971799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8890">
            <a:solidFill>
              <a:srgbClr val="0E18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bg object 115"/>
          <p:cNvSpPr/>
          <p:nvPr/>
        </p:nvSpPr>
        <p:spPr>
          <a:xfrm>
            <a:off x="0" y="3002279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8890">
            <a:solidFill>
              <a:srgbClr val="0E18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bg object 116"/>
          <p:cNvSpPr/>
          <p:nvPr/>
        </p:nvSpPr>
        <p:spPr>
          <a:xfrm>
            <a:off x="0" y="3032759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8890">
            <a:solidFill>
              <a:srgbClr val="0E18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bg object 117"/>
          <p:cNvSpPr/>
          <p:nvPr/>
        </p:nvSpPr>
        <p:spPr>
          <a:xfrm>
            <a:off x="0" y="3063239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8890">
            <a:solidFill>
              <a:srgbClr val="0E18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bg object 118"/>
          <p:cNvSpPr/>
          <p:nvPr/>
        </p:nvSpPr>
        <p:spPr>
          <a:xfrm>
            <a:off x="0" y="3093720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8890">
            <a:solidFill>
              <a:srgbClr val="0E18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bg object 119"/>
          <p:cNvSpPr/>
          <p:nvPr/>
        </p:nvSpPr>
        <p:spPr>
          <a:xfrm>
            <a:off x="0" y="3124199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8890">
            <a:solidFill>
              <a:srgbClr val="0E18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bg object 120"/>
          <p:cNvSpPr/>
          <p:nvPr/>
        </p:nvSpPr>
        <p:spPr>
          <a:xfrm>
            <a:off x="0" y="3154679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8890">
            <a:solidFill>
              <a:srgbClr val="0E18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bg object 121"/>
          <p:cNvSpPr/>
          <p:nvPr/>
        </p:nvSpPr>
        <p:spPr>
          <a:xfrm>
            <a:off x="0" y="3185159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8890">
            <a:solidFill>
              <a:srgbClr val="0E18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bg object 122"/>
          <p:cNvSpPr/>
          <p:nvPr/>
        </p:nvSpPr>
        <p:spPr>
          <a:xfrm>
            <a:off x="0" y="3215639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8890">
            <a:solidFill>
              <a:srgbClr val="0E18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bg object 123"/>
          <p:cNvSpPr/>
          <p:nvPr/>
        </p:nvSpPr>
        <p:spPr>
          <a:xfrm>
            <a:off x="79199" y="79200"/>
            <a:ext cx="5601970" cy="3081655"/>
          </a:xfrm>
          <a:custGeom>
            <a:avLst/>
            <a:gdLst/>
            <a:ahLst/>
            <a:cxnLst/>
            <a:rect l="l" t="t" r="r" b="b"/>
            <a:pathLst>
              <a:path w="5601970" h="3081655">
                <a:moveTo>
                  <a:pt x="27305" y="0"/>
                </a:moveTo>
                <a:lnTo>
                  <a:pt x="5574295" y="0"/>
                </a:lnTo>
                <a:lnTo>
                  <a:pt x="5584923" y="2145"/>
                </a:lnTo>
                <a:lnTo>
                  <a:pt x="5593602" y="7997"/>
                </a:lnTo>
                <a:lnTo>
                  <a:pt x="5599454" y="16676"/>
                </a:lnTo>
                <a:lnTo>
                  <a:pt x="5601599" y="27305"/>
                </a:lnTo>
                <a:lnTo>
                  <a:pt x="5601599" y="3054295"/>
                </a:lnTo>
                <a:lnTo>
                  <a:pt x="5599454" y="3064923"/>
                </a:lnTo>
                <a:lnTo>
                  <a:pt x="5593602" y="3073602"/>
                </a:lnTo>
                <a:lnTo>
                  <a:pt x="5584923" y="3079454"/>
                </a:lnTo>
                <a:lnTo>
                  <a:pt x="5574295" y="3081600"/>
                </a:lnTo>
                <a:lnTo>
                  <a:pt x="27305" y="3081600"/>
                </a:lnTo>
                <a:lnTo>
                  <a:pt x="16676" y="3079454"/>
                </a:lnTo>
                <a:lnTo>
                  <a:pt x="7997" y="3073602"/>
                </a:lnTo>
                <a:lnTo>
                  <a:pt x="2145" y="3064923"/>
                </a:lnTo>
                <a:lnTo>
                  <a:pt x="0" y="3054295"/>
                </a:lnTo>
                <a:lnTo>
                  <a:pt x="0" y="27305"/>
                </a:lnTo>
                <a:lnTo>
                  <a:pt x="2145" y="16676"/>
                </a:lnTo>
                <a:lnTo>
                  <a:pt x="7997" y="7997"/>
                </a:lnTo>
                <a:lnTo>
                  <a:pt x="16676" y="2145"/>
                </a:lnTo>
                <a:lnTo>
                  <a:pt x="27305" y="0"/>
                </a:lnTo>
              </a:path>
            </a:pathLst>
          </a:custGeom>
          <a:ln w="8890">
            <a:solidFill>
              <a:srgbClr val="24392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11299" y="34424"/>
            <a:ext cx="5100320" cy="4368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rgbClr val="C9F5C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11299" y="703866"/>
            <a:ext cx="4932680" cy="1908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50" b="0" i="0">
                <a:solidFill>
                  <a:srgbClr val="74A982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166759" y="2990433"/>
            <a:ext cx="281939" cy="1765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4BF07A"/>
                </a:solidFill>
                <a:latin typeface="Courier New"/>
                <a:cs typeface="Courier New"/>
              </a:defRPr>
            </a:lvl1pPr>
          </a:lstStyle>
          <a:p>
            <a:pPr marL="63500">
              <a:lnSpc>
                <a:spcPct val="100000"/>
              </a:lnSpc>
              <a:spcBef>
                <a:spcPts val="114"/>
              </a:spcBef>
            </a:pPr>
            <a:fld id="{81D60167-4931-47E6-BA6A-407CBD079E47}" type="slidenum">
              <a:rPr spc="-25" dirty="0"/>
              <a:t>‹#›</a:t>
            </a:fld>
            <a:r>
              <a:rPr spc="-25" dirty="0"/>
              <a:t>/9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9" y="3239999"/>
                </a:moveTo>
                <a:lnTo>
                  <a:pt x="0" y="3239999"/>
                </a:lnTo>
                <a:lnTo>
                  <a:pt x="0" y="0"/>
                </a:lnTo>
                <a:lnTo>
                  <a:pt x="5759999" y="0"/>
                </a:lnTo>
                <a:lnTo>
                  <a:pt x="5759999" y="3239999"/>
                </a:lnTo>
                <a:close/>
              </a:path>
            </a:pathLst>
          </a:custGeom>
          <a:solidFill>
            <a:srgbClr val="0A110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4444" y="10795"/>
            <a:ext cx="5768975" cy="3209290"/>
            <a:chOff x="-4444" y="10795"/>
            <a:chExt cx="5768975" cy="3209290"/>
          </a:xfrm>
        </p:grpSpPr>
        <p:sp>
          <p:nvSpPr>
            <p:cNvPr id="4" name="object 4"/>
            <p:cNvSpPr/>
            <p:nvPr/>
          </p:nvSpPr>
          <p:spPr>
            <a:xfrm>
              <a:off x="0" y="15240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45720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76200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10667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137160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167640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198120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228600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25907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289560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0" y="320040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0" y="350520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0" y="381000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0" y="411479"/>
              <a:ext cx="5760085" cy="60960"/>
            </a:xfrm>
            <a:custGeom>
              <a:avLst/>
              <a:gdLst/>
              <a:ahLst/>
              <a:cxnLst/>
              <a:rect l="l" t="t" r="r" b="b"/>
              <a:pathLst>
                <a:path w="5760085" h="60959">
                  <a:moveTo>
                    <a:pt x="0" y="0"/>
                  </a:moveTo>
                  <a:lnTo>
                    <a:pt x="1604159" y="0"/>
                  </a:lnTo>
                </a:path>
                <a:path w="5760085" h="60959">
                  <a:moveTo>
                    <a:pt x="1660039" y="0"/>
                  </a:moveTo>
                  <a:lnTo>
                    <a:pt x="5759999" y="0"/>
                  </a:lnTo>
                </a:path>
                <a:path w="5760085" h="60959">
                  <a:moveTo>
                    <a:pt x="0" y="30480"/>
                  </a:moveTo>
                  <a:lnTo>
                    <a:pt x="1604159" y="30480"/>
                  </a:lnTo>
                </a:path>
                <a:path w="5760085" h="60959">
                  <a:moveTo>
                    <a:pt x="1660039" y="30480"/>
                  </a:moveTo>
                  <a:lnTo>
                    <a:pt x="5759999" y="30480"/>
                  </a:lnTo>
                </a:path>
                <a:path w="5760085" h="60959">
                  <a:moveTo>
                    <a:pt x="0" y="60960"/>
                  </a:moveTo>
                  <a:lnTo>
                    <a:pt x="1604159" y="60960"/>
                  </a:lnTo>
                </a:path>
                <a:path w="5760085" h="60959">
                  <a:moveTo>
                    <a:pt x="1660039" y="60960"/>
                  </a:moveTo>
                  <a:lnTo>
                    <a:pt x="5759999" y="60960"/>
                  </a:lnTo>
                </a:path>
              </a:pathLst>
            </a:custGeom>
            <a:ln w="8889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0" y="502920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0" y="533400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0" y="56387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0" y="594360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0" y="624840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0" y="655320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0" y="685800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0" y="71627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0" y="746760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0" y="777240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0" y="807720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0" y="838200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0" y="86867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0" y="89915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0" y="929640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0" y="960120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0" y="990600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0" y="102107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0" y="105155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0" y="1082040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0" y="1112520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0" y="1143000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0" y="117347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0" y="120395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0" y="1234440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0" y="1264920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0" y="1295400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0" y="132587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0" y="135635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0" y="1386840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0" y="1417320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0" y="1447800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0" y="147827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0" y="150875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0" y="1539240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0" y="1569720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0" y="1600200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0" y="163067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0" y="166115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0" y="169163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0" y="1722120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0" y="175259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0" y="178307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0" y="181355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0" y="184403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0" y="1874520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0" y="190499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0" y="193547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0" y="196595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0" y="199643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0" y="2026920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0" y="205739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0" y="208787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0" y="211835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0" y="214883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0" y="2179320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0" y="220979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0" y="224027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0" y="227075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0" y="230123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0" y="2331720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0" y="236219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0" y="239267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0" y="242315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0" y="245363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0" y="2484120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0" y="251459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0" y="254507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0" y="257555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0" y="260603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0" y="2636520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0" y="266699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0" y="269747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0" y="272795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0" y="275843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0" y="2788920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0" y="281939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0" y="284987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0" y="288035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0" y="291083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0" y="2941320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0" y="297179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0" y="300227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0" y="303275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0" y="306323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0" y="3093720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0" y="312419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0" y="315467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0" y="318515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0" y="321563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79199" y="79200"/>
              <a:ext cx="5601970" cy="3081655"/>
            </a:xfrm>
            <a:custGeom>
              <a:avLst/>
              <a:gdLst/>
              <a:ahLst/>
              <a:cxnLst/>
              <a:rect l="l" t="t" r="r" b="b"/>
              <a:pathLst>
                <a:path w="5601970" h="3081655">
                  <a:moveTo>
                    <a:pt x="27305" y="0"/>
                  </a:moveTo>
                  <a:lnTo>
                    <a:pt x="5574295" y="0"/>
                  </a:lnTo>
                  <a:lnTo>
                    <a:pt x="5584923" y="2145"/>
                  </a:lnTo>
                  <a:lnTo>
                    <a:pt x="5593602" y="7997"/>
                  </a:lnTo>
                  <a:lnTo>
                    <a:pt x="5599454" y="16676"/>
                  </a:lnTo>
                  <a:lnTo>
                    <a:pt x="5601599" y="27305"/>
                  </a:lnTo>
                  <a:lnTo>
                    <a:pt x="5601599" y="3054295"/>
                  </a:lnTo>
                  <a:lnTo>
                    <a:pt x="5599454" y="3064923"/>
                  </a:lnTo>
                  <a:lnTo>
                    <a:pt x="5593602" y="3073602"/>
                  </a:lnTo>
                  <a:lnTo>
                    <a:pt x="5584923" y="3079454"/>
                  </a:lnTo>
                  <a:lnTo>
                    <a:pt x="5574295" y="3081600"/>
                  </a:lnTo>
                  <a:lnTo>
                    <a:pt x="27305" y="3081600"/>
                  </a:lnTo>
                  <a:lnTo>
                    <a:pt x="16676" y="3079454"/>
                  </a:lnTo>
                  <a:lnTo>
                    <a:pt x="7997" y="3073602"/>
                  </a:lnTo>
                  <a:lnTo>
                    <a:pt x="2145" y="3064923"/>
                  </a:lnTo>
                  <a:lnTo>
                    <a:pt x="0" y="3054295"/>
                  </a:lnTo>
                  <a:lnTo>
                    <a:pt x="0" y="27305"/>
                  </a:lnTo>
                  <a:lnTo>
                    <a:pt x="2145" y="16676"/>
                  </a:lnTo>
                  <a:lnTo>
                    <a:pt x="7997" y="7997"/>
                  </a:lnTo>
                  <a:lnTo>
                    <a:pt x="16676" y="2145"/>
                  </a:lnTo>
                  <a:lnTo>
                    <a:pt x="27305" y="0"/>
                  </a:lnTo>
                </a:path>
              </a:pathLst>
            </a:custGeom>
            <a:ln w="8890">
              <a:solidFill>
                <a:srgbClr val="2439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79199" y="79200"/>
              <a:ext cx="5601970" cy="180340"/>
            </a:xfrm>
            <a:custGeom>
              <a:avLst/>
              <a:gdLst/>
              <a:ahLst/>
              <a:cxnLst/>
              <a:rect l="l" t="t" r="r" b="b"/>
              <a:pathLst>
                <a:path w="5601970" h="180340">
                  <a:moveTo>
                    <a:pt x="5601599" y="179999"/>
                  </a:moveTo>
                  <a:lnTo>
                    <a:pt x="0" y="179999"/>
                  </a:lnTo>
                  <a:lnTo>
                    <a:pt x="0" y="31750"/>
                  </a:lnTo>
                  <a:lnTo>
                    <a:pt x="2495" y="19391"/>
                  </a:lnTo>
                  <a:lnTo>
                    <a:pt x="9299" y="9299"/>
                  </a:lnTo>
                  <a:lnTo>
                    <a:pt x="19391" y="2495"/>
                  </a:lnTo>
                  <a:lnTo>
                    <a:pt x="31750" y="0"/>
                  </a:lnTo>
                  <a:lnTo>
                    <a:pt x="5569849" y="0"/>
                  </a:lnTo>
                  <a:lnTo>
                    <a:pt x="5582208" y="2495"/>
                  </a:lnTo>
                  <a:lnTo>
                    <a:pt x="5592300" y="9299"/>
                  </a:lnTo>
                  <a:lnTo>
                    <a:pt x="5599104" y="19391"/>
                  </a:lnTo>
                  <a:lnTo>
                    <a:pt x="5601599" y="31750"/>
                  </a:lnTo>
                  <a:lnTo>
                    <a:pt x="5601599" y="179999"/>
                  </a:lnTo>
                  <a:close/>
                </a:path>
              </a:pathLst>
            </a:custGeom>
            <a:solidFill>
              <a:srgbClr val="12201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0" name="object 1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7999" y="126000"/>
              <a:ext cx="86400" cy="86400"/>
            </a:xfrm>
            <a:prstGeom prst="rect">
              <a:avLst/>
            </a:prstGeom>
          </p:spPr>
        </p:pic>
        <p:pic>
          <p:nvPicPr>
            <p:cNvPr id="111" name="object 1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2000" y="126000"/>
              <a:ext cx="86400" cy="86400"/>
            </a:xfrm>
            <a:prstGeom prst="rect">
              <a:avLst/>
            </a:prstGeom>
          </p:spPr>
        </p:pic>
        <p:pic>
          <p:nvPicPr>
            <p:cNvPr id="112" name="object 1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5999" y="126000"/>
              <a:ext cx="86400" cy="86400"/>
            </a:xfrm>
            <a:prstGeom prst="rect">
              <a:avLst/>
            </a:prstGeom>
          </p:spPr>
        </p:pic>
      </p:grpSp>
      <p:sp>
        <p:nvSpPr>
          <p:cNvPr id="113" name="object 113"/>
          <p:cNvSpPr txBox="1"/>
          <p:nvPr/>
        </p:nvSpPr>
        <p:spPr>
          <a:xfrm>
            <a:off x="2347235" y="104080"/>
            <a:ext cx="1065530" cy="124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dirty="0">
                <a:solidFill>
                  <a:srgbClr val="74A982"/>
                </a:solidFill>
                <a:latin typeface="Courier New"/>
                <a:cs typeface="Courier New"/>
              </a:rPr>
              <a:t>~/deck</a:t>
            </a:r>
            <a:r>
              <a:rPr sz="650" spc="-5" dirty="0">
                <a:solidFill>
                  <a:srgbClr val="74A982"/>
                </a:solidFill>
                <a:latin typeface="Courier New"/>
                <a:cs typeface="Courier New"/>
              </a:rPr>
              <a:t> </a:t>
            </a:r>
            <a:r>
              <a:rPr sz="650" dirty="0">
                <a:solidFill>
                  <a:srgbClr val="74A982"/>
                </a:solidFill>
                <a:latin typeface="Courier New"/>
                <a:cs typeface="Courier New"/>
              </a:rPr>
              <a:t>—</a:t>
            </a:r>
            <a:r>
              <a:rPr sz="650" spc="-5" dirty="0">
                <a:solidFill>
                  <a:srgbClr val="74A982"/>
                </a:solidFill>
                <a:latin typeface="Courier New"/>
                <a:cs typeface="Courier New"/>
              </a:rPr>
              <a:t> </a:t>
            </a:r>
            <a:r>
              <a:rPr sz="650" dirty="0">
                <a:solidFill>
                  <a:srgbClr val="74A982"/>
                </a:solidFill>
                <a:latin typeface="Courier New"/>
                <a:cs typeface="Courier New"/>
              </a:rPr>
              <a:t>zsh</a:t>
            </a:r>
            <a:r>
              <a:rPr sz="650" spc="-5" dirty="0">
                <a:solidFill>
                  <a:srgbClr val="74A982"/>
                </a:solidFill>
                <a:latin typeface="Courier New"/>
                <a:cs typeface="Courier New"/>
              </a:rPr>
              <a:t> </a:t>
            </a:r>
            <a:r>
              <a:rPr sz="650" dirty="0">
                <a:solidFill>
                  <a:srgbClr val="74A982"/>
                </a:solidFill>
                <a:latin typeface="Courier New"/>
                <a:cs typeface="Courier New"/>
              </a:rPr>
              <a:t>—</a:t>
            </a:r>
            <a:r>
              <a:rPr sz="650" spc="-5" dirty="0">
                <a:solidFill>
                  <a:srgbClr val="74A982"/>
                </a:solidFill>
                <a:latin typeface="Courier New"/>
                <a:cs typeface="Courier New"/>
              </a:rPr>
              <a:t> </a:t>
            </a:r>
            <a:r>
              <a:rPr sz="650" spc="-10" dirty="0">
                <a:solidFill>
                  <a:srgbClr val="74A982"/>
                </a:solidFill>
                <a:latin typeface="Courier New"/>
                <a:cs typeface="Courier New"/>
              </a:rPr>
              <a:t>160×90</a:t>
            </a:r>
            <a:endParaRPr sz="650">
              <a:latin typeface="Courier New"/>
              <a:cs typeface="Courier New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311299" y="355139"/>
            <a:ext cx="124460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4BF07A"/>
                </a:solidFill>
                <a:latin typeface="Courier New"/>
                <a:cs typeface="Courier New"/>
              </a:rPr>
              <a:t>$</a:t>
            </a:r>
            <a:r>
              <a:rPr sz="800" spc="15" dirty="0">
                <a:solidFill>
                  <a:srgbClr val="4BF07A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74A982"/>
                </a:solidFill>
                <a:latin typeface="Courier New"/>
                <a:cs typeface="Courier New"/>
              </a:rPr>
              <a:t>./present</a:t>
            </a:r>
            <a:r>
              <a:rPr sz="800" spc="20" dirty="0">
                <a:solidFill>
                  <a:srgbClr val="74A982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74A982"/>
                </a:solidFill>
                <a:latin typeface="Courier New"/>
                <a:cs typeface="Courier New"/>
              </a:rPr>
              <a:t>main.typ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115" name="object 115"/>
          <p:cNvGrpSpPr/>
          <p:nvPr/>
        </p:nvGrpSpPr>
        <p:grpSpPr>
          <a:xfrm>
            <a:off x="-5080" y="378000"/>
            <a:ext cx="5770245" cy="2867660"/>
            <a:chOff x="-5080" y="378000"/>
            <a:chExt cx="5770245" cy="2867660"/>
          </a:xfrm>
        </p:grpSpPr>
        <p:sp>
          <p:nvSpPr>
            <p:cNvPr id="116" name="object 116"/>
            <p:cNvSpPr/>
            <p:nvPr/>
          </p:nvSpPr>
          <p:spPr>
            <a:xfrm>
              <a:off x="1604159" y="378000"/>
              <a:ext cx="55880" cy="101600"/>
            </a:xfrm>
            <a:custGeom>
              <a:avLst/>
              <a:gdLst/>
              <a:ahLst/>
              <a:cxnLst/>
              <a:rect l="l" t="t" r="r" b="b"/>
              <a:pathLst>
                <a:path w="55880" h="101600">
                  <a:moveTo>
                    <a:pt x="55880" y="101600"/>
                  </a:moveTo>
                  <a:lnTo>
                    <a:pt x="0" y="101600"/>
                  </a:lnTo>
                  <a:lnTo>
                    <a:pt x="0" y="0"/>
                  </a:lnTo>
                  <a:lnTo>
                    <a:pt x="55880" y="0"/>
                  </a:lnTo>
                  <a:lnTo>
                    <a:pt x="55880" y="101600"/>
                  </a:lnTo>
                  <a:close/>
                </a:path>
              </a:pathLst>
            </a:custGeom>
            <a:solidFill>
              <a:srgbClr val="4BF0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0" y="2689200"/>
              <a:ext cx="5760085" cy="551180"/>
            </a:xfrm>
            <a:custGeom>
              <a:avLst/>
              <a:gdLst/>
              <a:ahLst/>
              <a:cxnLst/>
              <a:rect l="l" t="t" r="r" b="b"/>
              <a:pathLst>
                <a:path w="5760085" h="551180">
                  <a:moveTo>
                    <a:pt x="5759999" y="550800"/>
                  </a:moveTo>
                  <a:lnTo>
                    <a:pt x="5597746" y="550800"/>
                  </a:lnTo>
                  <a:lnTo>
                    <a:pt x="5678873" y="367199"/>
                  </a:lnTo>
                  <a:lnTo>
                    <a:pt x="5759999" y="0"/>
                  </a:lnTo>
                  <a:lnTo>
                    <a:pt x="5759999" y="550800"/>
                  </a:lnTo>
                  <a:close/>
                </a:path>
                <a:path w="5760085" h="551180">
                  <a:moveTo>
                    <a:pt x="2109295" y="550800"/>
                  </a:moveTo>
                  <a:lnTo>
                    <a:pt x="1784788" y="550800"/>
                  </a:lnTo>
                  <a:lnTo>
                    <a:pt x="1947042" y="31500"/>
                  </a:lnTo>
                  <a:lnTo>
                    <a:pt x="2109295" y="550800"/>
                  </a:lnTo>
                  <a:close/>
                </a:path>
                <a:path w="5760085" h="551180">
                  <a:moveTo>
                    <a:pt x="162253" y="550800"/>
                  </a:moveTo>
                  <a:lnTo>
                    <a:pt x="0" y="550800"/>
                  </a:lnTo>
                  <a:lnTo>
                    <a:pt x="0" y="73793"/>
                  </a:lnTo>
                  <a:lnTo>
                    <a:pt x="81126" y="391797"/>
                  </a:lnTo>
                  <a:lnTo>
                    <a:pt x="162253" y="550800"/>
                  </a:lnTo>
                  <a:close/>
                </a:path>
                <a:path w="5760085" h="551180">
                  <a:moveTo>
                    <a:pt x="1135774" y="550800"/>
                  </a:moveTo>
                  <a:lnTo>
                    <a:pt x="811267" y="550800"/>
                  </a:lnTo>
                  <a:lnTo>
                    <a:pt x="973521" y="232795"/>
                  </a:lnTo>
                  <a:lnTo>
                    <a:pt x="1135774" y="550800"/>
                  </a:lnTo>
                  <a:close/>
                </a:path>
                <a:path w="5760085" h="551180">
                  <a:moveTo>
                    <a:pt x="4056338" y="550800"/>
                  </a:moveTo>
                  <a:lnTo>
                    <a:pt x="3731831" y="550800"/>
                  </a:lnTo>
                  <a:lnTo>
                    <a:pt x="3894084" y="291150"/>
                  </a:lnTo>
                  <a:lnTo>
                    <a:pt x="4056338" y="550800"/>
                  </a:lnTo>
                  <a:close/>
                </a:path>
                <a:path w="5760085" h="551180">
                  <a:moveTo>
                    <a:pt x="5029859" y="550800"/>
                  </a:moveTo>
                  <a:lnTo>
                    <a:pt x="4705351" y="550800"/>
                  </a:lnTo>
                  <a:lnTo>
                    <a:pt x="4867605" y="291150"/>
                  </a:lnTo>
                  <a:lnTo>
                    <a:pt x="5029859" y="550800"/>
                  </a:lnTo>
                  <a:close/>
                </a:path>
              </a:pathLst>
            </a:custGeom>
            <a:solidFill>
              <a:srgbClr val="4BF07A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0" y="2689200"/>
              <a:ext cx="5760085" cy="551180"/>
            </a:xfrm>
            <a:custGeom>
              <a:avLst/>
              <a:gdLst/>
              <a:ahLst/>
              <a:cxnLst/>
              <a:rect l="l" t="t" r="r" b="b"/>
              <a:pathLst>
                <a:path w="5760085" h="551180">
                  <a:moveTo>
                    <a:pt x="0" y="550800"/>
                  </a:moveTo>
                  <a:lnTo>
                    <a:pt x="0" y="73793"/>
                  </a:lnTo>
                  <a:lnTo>
                    <a:pt x="81126" y="391797"/>
                  </a:lnTo>
                  <a:lnTo>
                    <a:pt x="162253" y="550800"/>
                  </a:lnTo>
                  <a:lnTo>
                    <a:pt x="811267" y="550800"/>
                  </a:lnTo>
                  <a:lnTo>
                    <a:pt x="892394" y="391797"/>
                  </a:lnTo>
                  <a:lnTo>
                    <a:pt x="973521" y="232795"/>
                  </a:lnTo>
                  <a:lnTo>
                    <a:pt x="1054647" y="391797"/>
                  </a:lnTo>
                  <a:lnTo>
                    <a:pt x="1135774" y="550800"/>
                  </a:lnTo>
                  <a:lnTo>
                    <a:pt x="1216901" y="550800"/>
                  </a:lnTo>
                  <a:lnTo>
                    <a:pt x="1784788" y="550800"/>
                  </a:lnTo>
                  <a:lnTo>
                    <a:pt x="1865915" y="291150"/>
                  </a:lnTo>
                  <a:lnTo>
                    <a:pt x="1947042" y="31500"/>
                  </a:lnTo>
                  <a:lnTo>
                    <a:pt x="2028169" y="291150"/>
                  </a:lnTo>
                  <a:lnTo>
                    <a:pt x="2109295" y="550800"/>
                  </a:lnTo>
                  <a:lnTo>
                    <a:pt x="2190422" y="550800"/>
                  </a:lnTo>
                  <a:lnTo>
                    <a:pt x="3731831" y="550800"/>
                  </a:lnTo>
                  <a:lnTo>
                    <a:pt x="3812957" y="420975"/>
                  </a:lnTo>
                  <a:lnTo>
                    <a:pt x="3894084" y="291150"/>
                  </a:lnTo>
                  <a:lnTo>
                    <a:pt x="3975211" y="420975"/>
                  </a:lnTo>
                  <a:lnTo>
                    <a:pt x="4056338" y="550800"/>
                  </a:lnTo>
                  <a:lnTo>
                    <a:pt x="4137464" y="550800"/>
                  </a:lnTo>
                  <a:lnTo>
                    <a:pt x="4705351" y="550800"/>
                  </a:lnTo>
                  <a:lnTo>
                    <a:pt x="4786478" y="420975"/>
                  </a:lnTo>
                  <a:lnTo>
                    <a:pt x="4867605" y="291150"/>
                  </a:lnTo>
                  <a:lnTo>
                    <a:pt x="4948732" y="420975"/>
                  </a:lnTo>
                  <a:lnTo>
                    <a:pt x="5029859" y="550800"/>
                  </a:lnTo>
                  <a:lnTo>
                    <a:pt x="5110986" y="550800"/>
                  </a:lnTo>
                  <a:lnTo>
                    <a:pt x="5597746" y="550800"/>
                  </a:lnTo>
                  <a:lnTo>
                    <a:pt x="5678873" y="367199"/>
                  </a:lnTo>
                  <a:lnTo>
                    <a:pt x="5759999" y="0"/>
                  </a:lnTo>
                  <a:lnTo>
                    <a:pt x="5759999" y="550800"/>
                  </a:lnTo>
                  <a:lnTo>
                    <a:pt x="4859999" y="550800"/>
                  </a:lnTo>
                  <a:lnTo>
                    <a:pt x="2879999" y="550800"/>
                  </a:lnTo>
                  <a:lnTo>
                    <a:pt x="899999" y="550800"/>
                  </a:lnTo>
                  <a:lnTo>
                    <a:pt x="0" y="550800"/>
                  </a:lnTo>
                  <a:close/>
                </a:path>
              </a:pathLst>
            </a:custGeom>
            <a:ln w="10160">
              <a:solidFill>
                <a:srgbClr val="4BF07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9" name="object 119" descr="$PPTXTitle"/>
          <p:cNvSpPr txBox="1">
            <a:spLocks noGrp="1"/>
          </p:cNvSpPr>
          <p:nvPr>
            <p:ph type="title"/>
          </p:nvPr>
        </p:nvSpPr>
        <p:spPr>
          <a:xfrm>
            <a:off x="311299" y="270479"/>
            <a:ext cx="270764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270" dirty="0"/>
              <a:t>SpectreSync</a:t>
            </a:r>
            <a:endParaRPr sz="4800"/>
          </a:p>
        </p:txBody>
      </p:sp>
      <p:sp>
        <p:nvSpPr>
          <p:cNvPr id="120" name="object 120"/>
          <p:cNvSpPr txBox="1"/>
          <p:nvPr/>
        </p:nvSpPr>
        <p:spPr>
          <a:xfrm>
            <a:off x="311299" y="1097249"/>
            <a:ext cx="2265680" cy="708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6700"/>
              </a:lnSpc>
              <a:spcBef>
                <a:spcPts val="100"/>
              </a:spcBef>
            </a:pPr>
            <a:r>
              <a:rPr sz="1400" dirty="0">
                <a:solidFill>
                  <a:srgbClr val="74A982"/>
                </a:solidFill>
                <a:latin typeface="Courier New"/>
                <a:cs typeface="Courier New"/>
              </a:rPr>
              <a:t>Deception</a:t>
            </a:r>
            <a:r>
              <a:rPr sz="1400" spc="-15" dirty="0">
                <a:solidFill>
                  <a:srgbClr val="74A982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74A982"/>
                </a:solidFill>
                <a:latin typeface="Courier New"/>
                <a:cs typeface="Courier New"/>
              </a:rPr>
              <a:t>mesh</a:t>
            </a:r>
            <a:r>
              <a:rPr sz="1400" spc="-5" dirty="0">
                <a:solidFill>
                  <a:srgbClr val="74A982"/>
                </a:solidFill>
                <a:latin typeface="Courier New"/>
                <a:cs typeface="Courier New"/>
              </a:rPr>
              <a:t> </a:t>
            </a:r>
            <a:r>
              <a:rPr sz="1400" spc="-25" dirty="0">
                <a:solidFill>
                  <a:srgbClr val="74A982"/>
                </a:solidFill>
                <a:latin typeface="Courier New"/>
                <a:cs typeface="Courier New"/>
              </a:rPr>
              <a:t>for </a:t>
            </a:r>
            <a:r>
              <a:rPr sz="1400" dirty="0">
                <a:solidFill>
                  <a:srgbClr val="74A982"/>
                </a:solidFill>
                <a:latin typeface="Courier New"/>
                <a:cs typeface="Courier New"/>
              </a:rPr>
              <a:t>JAI</a:t>
            </a:r>
            <a:r>
              <a:rPr sz="1400" spc="-5" dirty="0">
                <a:solidFill>
                  <a:srgbClr val="74A982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74A982"/>
                </a:solidFill>
                <a:latin typeface="Courier New"/>
                <a:cs typeface="Courier New"/>
              </a:rPr>
              <a:t>2026:</a:t>
            </a:r>
            <a:r>
              <a:rPr sz="1400" spc="-5" dirty="0">
                <a:solidFill>
                  <a:srgbClr val="74A982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74A982"/>
                </a:solidFill>
                <a:latin typeface="Courier New"/>
                <a:cs typeface="Courier New"/>
              </a:rPr>
              <a:t>Every</a:t>
            </a:r>
            <a:r>
              <a:rPr sz="1400" spc="-5" dirty="0">
                <a:solidFill>
                  <a:srgbClr val="74A982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74A982"/>
                </a:solidFill>
                <a:latin typeface="Courier New"/>
                <a:cs typeface="Courier New"/>
              </a:rPr>
              <a:t>probe </a:t>
            </a:r>
            <a:r>
              <a:rPr sz="1400" dirty="0">
                <a:solidFill>
                  <a:srgbClr val="74A982"/>
                </a:solidFill>
                <a:latin typeface="Courier New"/>
                <a:cs typeface="Courier New"/>
              </a:rPr>
              <a:t>becomes</a:t>
            </a:r>
            <a:r>
              <a:rPr sz="1400" spc="-5" dirty="0">
                <a:solidFill>
                  <a:srgbClr val="74A982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74A982"/>
                </a:solidFill>
                <a:latin typeface="Courier New"/>
                <a:cs typeface="Courier New"/>
              </a:rPr>
              <a:t>a</a:t>
            </a:r>
            <a:r>
              <a:rPr sz="1400" spc="-5" dirty="0">
                <a:solidFill>
                  <a:srgbClr val="74A982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74A982"/>
                </a:solidFill>
                <a:latin typeface="Courier New"/>
                <a:cs typeface="Courier New"/>
              </a:rPr>
              <a:t>signal</a:t>
            </a:r>
            <a:endParaRPr sz="1400">
              <a:latin typeface="Courier New"/>
              <a:cs typeface="Courier New"/>
            </a:endParaRPr>
          </a:p>
        </p:txBody>
      </p:sp>
      <p:grpSp>
        <p:nvGrpSpPr>
          <p:cNvPr id="121" name="object 121"/>
          <p:cNvGrpSpPr/>
          <p:nvPr/>
        </p:nvGrpSpPr>
        <p:grpSpPr>
          <a:xfrm>
            <a:off x="323999" y="663498"/>
            <a:ext cx="5116830" cy="1393190"/>
            <a:chOff x="323999" y="663498"/>
            <a:chExt cx="5116830" cy="1393190"/>
          </a:xfrm>
        </p:grpSpPr>
        <p:pic>
          <p:nvPicPr>
            <p:cNvPr id="122" name="object 1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09300" y="663498"/>
              <a:ext cx="2330966" cy="1098309"/>
            </a:xfrm>
            <a:prstGeom prst="rect">
              <a:avLst/>
            </a:prstGeom>
          </p:spPr>
        </p:pic>
        <p:sp>
          <p:nvSpPr>
            <p:cNvPr id="123" name="object 123"/>
            <p:cNvSpPr/>
            <p:nvPr/>
          </p:nvSpPr>
          <p:spPr>
            <a:xfrm>
              <a:off x="323999" y="2052766"/>
              <a:ext cx="5112385" cy="0"/>
            </a:xfrm>
            <a:custGeom>
              <a:avLst/>
              <a:gdLst/>
              <a:ahLst/>
              <a:cxnLst/>
              <a:rect l="l" t="t" r="r" b="b"/>
              <a:pathLst>
                <a:path w="5112385">
                  <a:moveTo>
                    <a:pt x="0" y="0"/>
                  </a:moveTo>
                  <a:lnTo>
                    <a:pt x="5111999" y="0"/>
                  </a:lnTo>
                </a:path>
              </a:pathLst>
            </a:custGeom>
            <a:ln w="7620">
              <a:solidFill>
                <a:srgbClr val="2439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4" name="object 124"/>
          <p:cNvSpPr txBox="1"/>
          <p:nvPr/>
        </p:nvSpPr>
        <p:spPr>
          <a:xfrm>
            <a:off x="311299" y="2156461"/>
            <a:ext cx="114554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C9F5CF"/>
                </a:solidFill>
                <a:latin typeface="Courier New"/>
                <a:cs typeface="Courier New"/>
              </a:rPr>
              <a:t>Utkarsh</a:t>
            </a:r>
            <a:r>
              <a:rPr sz="1050" spc="-5" dirty="0">
                <a:solidFill>
                  <a:srgbClr val="C9F5CF"/>
                </a:solidFill>
                <a:latin typeface="Courier New"/>
                <a:cs typeface="Courier New"/>
              </a:rPr>
              <a:t> </a:t>
            </a:r>
            <a:r>
              <a:rPr sz="1050" spc="-10" dirty="0">
                <a:solidFill>
                  <a:srgbClr val="C9F5CF"/>
                </a:solidFill>
                <a:latin typeface="Courier New"/>
                <a:cs typeface="Courier New"/>
              </a:rPr>
              <a:t>Mishra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126" name="object 126"/>
          <p:cNvSpPr txBox="1"/>
          <p:nvPr/>
        </p:nvSpPr>
        <p:spPr>
          <a:xfrm>
            <a:off x="1591460" y="2156461"/>
            <a:ext cx="106553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C9F5CF"/>
                </a:solidFill>
                <a:latin typeface="Courier New"/>
                <a:cs typeface="Courier New"/>
              </a:rPr>
              <a:t>Riya</a:t>
            </a:r>
            <a:r>
              <a:rPr sz="1050" spc="-5" dirty="0">
                <a:solidFill>
                  <a:srgbClr val="C9F5CF"/>
                </a:solidFill>
                <a:latin typeface="Courier New"/>
                <a:cs typeface="Courier New"/>
              </a:rPr>
              <a:t> </a:t>
            </a:r>
            <a:r>
              <a:rPr sz="1050" spc="-10" dirty="0">
                <a:solidFill>
                  <a:srgbClr val="C9F5CF"/>
                </a:solidFill>
                <a:latin typeface="Courier New"/>
                <a:cs typeface="Courier New"/>
              </a:rPr>
              <a:t>Aggarwal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128" name="object 128"/>
          <p:cNvSpPr txBox="1"/>
          <p:nvPr/>
        </p:nvSpPr>
        <p:spPr>
          <a:xfrm>
            <a:off x="2791610" y="2156461"/>
            <a:ext cx="122555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C9F5CF"/>
                </a:solidFill>
                <a:latin typeface="Courier New"/>
                <a:cs typeface="Courier New"/>
              </a:rPr>
              <a:t>Kartikey</a:t>
            </a:r>
            <a:r>
              <a:rPr sz="1050" spc="-5" dirty="0">
                <a:solidFill>
                  <a:srgbClr val="C9F5CF"/>
                </a:solidFill>
                <a:latin typeface="Courier New"/>
                <a:cs typeface="Courier New"/>
              </a:rPr>
              <a:t> </a:t>
            </a:r>
            <a:r>
              <a:rPr sz="1050" spc="-10" dirty="0">
                <a:solidFill>
                  <a:srgbClr val="C9F5CF"/>
                </a:solidFill>
                <a:latin typeface="Courier New"/>
                <a:cs typeface="Courier New"/>
              </a:rPr>
              <a:t>Mishra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125" name="object 125"/>
          <p:cNvSpPr txBox="1"/>
          <p:nvPr/>
        </p:nvSpPr>
        <p:spPr>
          <a:xfrm>
            <a:off x="311299" y="2327150"/>
            <a:ext cx="106553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C9F5CF"/>
                </a:solidFill>
                <a:latin typeface="Courier New"/>
                <a:cs typeface="Courier New"/>
              </a:rPr>
              <a:t>Bhavy</a:t>
            </a:r>
            <a:r>
              <a:rPr sz="1050" spc="-5" dirty="0">
                <a:solidFill>
                  <a:srgbClr val="C9F5CF"/>
                </a:solidFill>
                <a:latin typeface="Courier New"/>
                <a:cs typeface="Courier New"/>
              </a:rPr>
              <a:t> </a:t>
            </a:r>
            <a:r>
              <a:rPr sz="1050" spc="-10" dirty="0">
                <a:solidFill>
                  <a:srgbClr val="C9F5CF"/>
                </a:solidFill>
                <a:latin typeface="Courier New"/>
                <a:cs typeface="Courier New"/>
              </a:rPr>
              <a:t>Mahawar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1591460" y="2327150"/>
            <a:ext cx="985519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C9F5CF"/>
                </a:solidFill>
                <a:latin typeface="Courier New"/>
                <a:cs typeface="Courier New"/>
              </a:rPr>
              <a:t>Tanishk</a:t>
            </a:r>
            <a:r>
              <a:rPr sz="1050" spc="-5" dirty="0">
                <a:solidFill>
                  <a:srgbClr val="C9F5CF"/>
                </a:solidFill>
                <a:latin typeface="Courier New"/>
                <a:cs typeface="Courier New"/>
              </a:rPr>
              <a:t> </a:t>
            </a:r>
            <a:r>
              <a:rPr sz="1050" spc="-20" dirty="0">
                <a:solidFill>
                  <a:srgbClr val="C9F5CF"/>
                </a:solidFill>
                <a:latin typeface="Courier New"/>
                <a:cs typeface="Courier New"/>
              </a:rPr>
              <a:t>Soni</a:t>
            </a:r>
            <a:endParaRPr sz="10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90" dirty="0">
                <a:solidFill>
                  <a:srgbClr val="4BF07A"/>
                </a:solidFill>
              </a:rPr>
              <a:t>$</a:t>
            </a:r>
            <a:r>
              <a:rPr spc="355" dirty="0">
                <a:solidFill>
                  <a:srgbClr val="4BF07A"/>
                </a:solidFill>
              </a:rPr>
              <a:t> </a:t>
            </a:r>
            <a:r>
              <a:rPr cap="small" spc="-45" dirty="0"/>
              <a:t>d</a:t>
            </a:r>
            <a:r>
              <a:rPr spc="-45" dirty="0"/>
              <a:t>etection</a:t>
            </a:r>
            <a:r>
              <a:rPr spc="360" dirty="0"/>
              <a:t> </a:t>
            </a:r>
            <a:r>
              <a:rPr spc="50" dirty="0"/>
              <a:t>starts</a:t>
            </a:r>
            <a:r>
              <a:rPr spc="360" dirty="0"/>
              <a:t> </a:t>
            </a:r>
            <a:r>
              <a:rPr dirty="0"/>
              <a:t>after</a:t>
            </a:r>
            <a:r>
              <a:rPr spc="355" dirty="0"/>
              <a:t> </a:t>
            </a:r>
            <a:r>
              <a:rPr spc="-30" dirty="0"/>
              <a:t>the</a:t>
            </a:r>
            <a:r>
              <a:rPr spc="360" dirty="0"/>
              <a:t> </a:t>
            </a:r>
            <a:r>
              <a:rPr spc="-75" dirty="0"/>
              <a:t>incident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23999" y="584969"/>
            <a:ext cx="5112385" cy="1636395"/>
            <a:chOff x="323999" y="584969"/>
            <a:chExt cx="5112385" cy="1636395"/>
          </a:xfrm>
        </p:grpSpPr>
        <p:sp>
          <p:nvSpPr>
            <p:cNvPr id="4" name="object 4"/>
            <p:cNvSpPr/>
            <p:nvPr/>
          </p:nvSpPr>
          <p:spPr>
            <a:xfrm>
              <a:off x="323999" y="590049"/>
              <a:ext cx="5112385" cy="0"/>
            </a:xfrm>
            <a:custGeom>
              <a:avLst/>
              <a:gdLst/>
              <a:ahLst/>
              <a:cxnLst/>
              <a:rect l="l" t="t" r="r" b="b"/>
              <a:pathLst>
                <a:path w="5112385">
                  <a:moveTo>
                    <a:pt x="0" y="0"/>
                  </a:moveTo>
                  <a:lnTo>
                    <a:pt x="5111999" y="0"/>
                  </a:lnTo>
                </a:path>
              </a:pathLst>
            </a:custGeom>
            <a:ln w="10160">
              <a:solidFill>
                <a:srgbClr val="24392B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23999" y="2196335"/>
              <a:ext cx="297180" cy="24765"/>
            </a:xfrm>
            <a:custGeom>
              <a:avLst/>
              <a:gdLst/>
              <a:ahLst/>
              <a:cxnLst/>
              <a:rect l="l" t="t" r="r" b="b"/>
              <a:pathLst>
                <a:path w="297180" h="24764">
                  <a:moveTo>
                    <a:pt x="297179" y="24764"/>
                  </a:moveTo>
                  <a:lnTo>
                    <a:pt x="0" y="24764"/>
                  </a:lnTo>
                  <a:lnTo>
                    <a:pt x="0" y="0"/>
                  </a:lnTo>
                  <a:lnTo>
                    <a:pt x="297179" y="0"/>
                  </a:lnTo>
                  <a:lnTo>
                    <a:pt x="297179" y="24764"/>
                  </a:lnTo>
                  <a:close/>
                </a:path>
              </a:pathLst>
            </a:custGeom>
            <a:solidFill>
              <a:srgbClr val="4BF0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11299" y="709867"/>
            <a:ext cx="351726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74A982"/>
                </a:solidFill>
                <a:latin typeface="Courier New"/>
                <a:cs typeface="Courier New"/>
              </a:rPr>
              <a:t>So</a:t>
            </a:r>
            <a:r>
              <a:rPr sz="950" spc="35" dirty="0">
                <a:solidFill>
                  <a:srgbClr val="74A982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74A982"/>
                </a:solidFill>
                <a:latin typeface="Courier New"/>
                <a:cs typeface="Courier New"/>
              </a:rPr>
              <a:t>the</a:t>
            </a:r>
            <a:r>
              <a:rPr sz="950" spc="40" dirty="0">
                <a:solidFill>
                  <a:srgbClr val="74A982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74A982"/>
                </a:solidFill>
                <a:latin typeface="Courier New"/>
                <a:cs typeface="Courier New"/>
              </a:rPr>
              <a:t>pitch</a:t>
            </a:r>
            <a:r>
              <a:rPr sz="950" spc="40" dirty="0">
                <a:solidFill>
                  <a:srgbClr val="74A982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74A982"/>
                </a:solidFill>
                <a:latin typeface="Courier New"/>
                <a:cs typeface="Courier New"/>
              </a:rPr>
              <a:t>starts</a:t>
            </a:r>
            <a:r>
              <a:rPr sz="950" spc="40" dirty="0">
                <a:solidFill>
                  <a:srgbClr val="74A982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74A982"/>
                </a:solidFill>
                <a:latin typeface="Courier New"/>
                <a:cs typeface="Courier New"/>
              </a:rPr>
              <a:t>where</a:t>
            </a:r>
            <a:r>
              <a:rPr sz="950" spc="40" dirty="0">
                <a:solidFill>
                  <a:srgbClr val="74A982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74A982"/>
                </a:solidFill>
                <a:latin typeface="Courier New"/>
                <a:cs typeface="Courier New"/>
              </a:rPr>
              <a:t>detection</a:t>
            </a:r>
            <a:r>
              <a:rPr sz="950" spc="40" dirty="0">
                <a:solidFill>
                  <a:srgbClr val="74A982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74A982"/>
                </a:solidFill>
                <a:latin typeface="Courier New"/>
                <a:cs typeface="Courier New"/>
              </a:rPr>
              <a:t>leaves</a:t>
            </a:r>
            <a:r>
              <a:rPr sz="950" spc="40" dirty="0">
                <a:solidFill>
                  <a:srgbClr val="74A982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74A982"/>
                </a:solidFill>
                <a:latin typeface="Courier New"/>
                <a:cs typeface="Courier New"/>
              </a:rPr>
              <a:t>off.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11299" y="935668"/>
            <a:ext cx="4208780" cy="1077595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 marR="5080">
              <a:lnSpc>
                <a:spcPts val="2690"/>
              </a:lnSpc>
              <a:spcBef>
                <a:spcPts val="370"/>
              </a:spcBef>
            </a:pPr>
            <a:r>
              <a:rPr sz="2400" spc="-705" dirty="0">
                <a:solidFill>
                  <a:srgbClr val="C9F5CF"/>
                </a:solidFill>
                <a:latin typeface="Calibri"/>
                <a:cs typeface="Calibri"/>
              </a:rPr>
              <a:t>We</a:t>
            </a:r>
            <a:r>
              <a:rPr sz="2400" spc="415" dirty="0">
                <a:solidFill>
                  <a:srgbClr val="C9F5C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9F5CF"/>
                </a:solidFill>
                <a:latin typeface="Calibri"/>
                <a:cs typeface="Calibri"/>
              </a:rPr>
              <a:t>plant</a:t>
            </a:r>
            <a:r>
              <a:rPr sz="2400" spc="80" dirty="0">
                <a:solidFill>
                  <a:srgbClr val="C9F5C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C9F5CF"/>
                </a:solidFill>
                <a:latin typeface="Calibri"/>
                <a:cs typeface="Calibri"/>
              </a:rPr>
              <a:t>controlled</a:t>
            </a:r>
            <a:r>
              <a:rPr sz="2400" spc="185" dirty="0">
                <a:solidFill>
                  <a:srgbClr val="C9F5C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9F5CF"/>
                </a:solidFill>
                <a:latin typeface="Calibri"/>
                <a:cs typeface="Calibri"/>
              </a:rPr>
              <a:t>assets</a:t>
            </a:r>
            <a:r>
              <a:rPr sz="2400" spc="229" dirty="0">
                <a:solidFill>
                  <a:srgbClr val="C9F5C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9F5CF"/>
                </a:solidFill>
                <a:latin typeface="Calibri"/>
                <a:cs typeface="Calibri"/>
              </a:rPr>
              <a:t>so</a:t>
            </a:r>
            <a:r>
              <a:rPr sz="2400" spc="225" dirty="0">
                <a:solidFill>
                  <a:srgbClr val="C9F5CF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C9F5CF"/>
                </a:solidFill>
                <a:latin typeface="Calibri"/>
                <a:cs typeface="Calibri"/>
              </a:rPr>
              <a:t>an </a:t>
            </a:r>
            <a:r>
              <a:rPr sz="2400" spc="-110" dirty="0">
                <a:solidFill>
                  <a:srgbClr val="C9F5CF"/>
                </a:solidFill>
                <a:latin typeface="Calibri"/>
                <a:cs typeface="Calibri"/>
              </a:rPr>
              <a:t>unauthorized</a:t>
            </a:r>
            <a:r>
              <a:rPr sz="2400" spc="280" dirty="0">
                <a:solidFill>
                  <a:srgbClr val="C9F5CF"/>
                </a:solidFill>
                <a:latin typeface="Calibri"/>
                <a:cs typeface="Calibri"/>
              </a:rPr>
              <a:t> </a:t>
            </a:r>
            <a:r>
              <a:rPr sz="2400" spc="-130" dirty="0">
                <a:solidFill>
                  <a:srgbClr val="C9F5CF"/>
                </a:solidFill>
                <a:latin typeface="Calibri"/>
                <a:cs typeface="Calibri"/>
              </a:rPr>
              <a:t>attempt</a:t>
            </a:r>
            <a:r>
              <a:rPr sz="2400" spc="280" dirty="0">
                <a:solidFill>
                  <a:srgbClr val="C9F5CF"/>
                </a:solidFill>
                <a:latin typeface="Calibri"/>
                <a:cs typeface="Calibri"/>
              </a:rPr>
              <a:t> </a:t>
            </a:r>
            <a:r>
              <a:rPr sz="2400" spc="-260" dirty="0">
                <a:solidFill>
                  <a:srgbClr val="C9F5CF"/>
                </a:solidFill>
                <a:latin typeface="Calibri"/>
                <a:cs typeface="Calibri"/>
              </a:rPr>
              <a:t>shows</a:t>
            </a:r>
            <a:r>
              <a:rPr sz="2400" spc="280" dirty="0">
                <a:solidFill>
                  <a:srgbClr val="C9F5CF"/>
                </a:solidFill>
                <a:latin typeface="Calibri"/>
                <a:cs typeface="Calibri"/>
              </a:rPr>
              <a:t> </a:t>
            </a:r>
            <a:r>
              <a:rPr sz="2400" spc="-305" dirty="0">
                <a:solidFill>
                  <a:srgbClr val="C9F5CF"/>
                </a:solidFill>
                <a:latin typeface="Calibri"/>
                <a:cs typeface="Calibri"/>
              </a:rPr>
              <a:t>up</a:t>
            </a:r>
            <a:r>
              <a:rPr sz="2400" spc="280" dirty="0">
                <a:solidFill>
                  <a:srgbClr val="C9F5C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9F5CF"/>
                </a:solidFill>
                <a:latin typeface="Calibri"/>
                <a:cs typeface="Calibri"/>
              </a:rPr>
              <a:t>as</a:t>
            </a:r>
            <a:r>
              <a:rPr sz="2400" spc="280" dirty="0">
                <a:solidFill>
                  <a:srgbClr val="C9F5CF"/>
                </a:solidFill>
                <a:latin typeface="Calibri"/>
                <a:cs typeface="Calibri"/>
              </a:rPr>
              <a:t> </a:t>
            </a:r>
            <a:r>
              <a:rPr sz="2400" spc="-50" dirty="0">
                <a:solidFill>
                  <a:srgbClr val="C9F5CF"/>
                </a:solidFill>
                <a:latin typeface="Calibri"/>
                <a:cs typeface="Calibri"/>
              </a:rPr>
              <a:t>a </a:t>
            </a:r>
            <a:r>
              <a:rPr sz="2400" spc="-10" dirty="0">
                <a:solidFill>
                  <a:srgbClr val="C9F5CF"/>
                </a:solidFill>
                <a:latin typeface="Calibri"/>
                <a:cs typeface="Calibri"/>
              </a:rPr>
              <a:t>signal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1299" y="2382994"/>
            <a:ext cx="4408805" cy="342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95"/>
              </a:spcBef>
            </a:pPr>
            <a:r>
              <a:rPr sz="950" dirty="0">
                <a:solidFill>
                  <a:srgbClr val="C9F5CF"/>
                </a:solidFill>
                <a:latin typeface="Courier New"/>
                <a:cs typeface="Courier New"/>
              </a:rPr>
              <a:t>The</a:t>
            </a:r>
            <a:r>
              <a:rPr sz="950" spc="45" dirty="0">
                <a:solidFill>
                  <a:srgbClr val="C9F5CF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9F5CF"/>
                </a:solidFill>
                <a:latin typeface="Courier New"/>
                <a:cs typeface="Courier New"/>
              </a:rPr>
              <a:t>README’s</a:t>
            </a:r>
            <a:r>
              <a:rPr sz="950" spc="50" dirty="0">
                <a:solidFill>
                  <a:srgbClr val="C9F5CF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9F5CF"/>
                </a:solidFill>
                <a:latin typeface="Courier New"/>
                <a:cs typeface="Courier New"/>
              </a:rPr>
              <a:t>premise:</a:t>
            </a:r>
            <a:r>
              <a:rPr sz="950" spc="50" dirty="0">
                <a:solidFill>
                  <a:srgbClr val="C9F5CF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9F5CF"/>
                </a:solidFill>
                <a:latin typeface="Courier New"/>
                <a:cs typeface="Courier New"/>
              </a:rPr>
              <a:t>artificial</a:t>
            </a:r>
            <a:r>
              <a:rPr sz="950" spc="50" dirty="0">
                <a:solidFill>
                  <a:srgbClr val="C9F5CF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9F5CF"/>
                </a:solidFill>
                <a:latin typeface="Courier New"/>
                <a:cs typeface="Courier New"/>
              </a:rPr>
              <a:t>assets</a:t>
            </a:r>
            <a:r>
              <a:rPr sz="950" spc="50" dirty="0">
                <a:solidFill>
                  <a:srgbClr val="C9F5CF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9F5CF"/>
                </a:solidFill>
                <a:latin typeface="Courier New"/>
                <a:cs typeface="Courier New"/>
              </a:rPr>
              <a:t>reveal</a:t>
            </a:r>
            <a:r>
              <a:rPr sz="950" spc="50" dirty="0">
                <a:solidFill>
                  <a:srgbClr val="C9F5CF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C9F5CF"/>
                </a:solidFill>
                <a:latin typeface="Courier New"/>
                <a:cs typeface="Courier New"/>
              </a:rPr>
              <a:t>unauthorized </a:t>
            </a:r>
            <a:r>
              <a:rPr sz="950" dirty="0">
                <a:solidFill>
                  <a:srgbClr val="C9F5CF"/>
                </a:solidFill>
                <a:latin typeface="Courier New"/>
                <a:cs typeface="Courier New"/>
              </a:rPr>
              <a:t>access</a:t>
            </a:r>
            <a:r>
              <a:rPr sz="950" spc="40" dirty="0">
                <a:solidFill>
                  <a:srgbClr val="C9F5CF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9F5CF"/>
                </a:solidFill>
                <a:latin typeface="Courier New"/>
                <a:cs typeface="Courier New"/>
              </a:rPr>
              <a:t>attempts</a:t>
            </a:r>
            <a:r>
              <a:rPr sz="950" spc="40" dirty="0">
                <a:solidFill>
                  <a:srgbClr val="C9F5CF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9F5CF"/>
                </a:solidFill>
                <a:latin typeface="Courier New"/>
                <a:cs typeface="Courier New"/>
              </a:rPr>
              <a:t>and</a:t>
            </a:r>
            <a:r>
              <a:rPr sz="950" spc="40" dirty="0">
                <a:solidFill>
                  <a:srgbClr val="C9F5CF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9F5CF"/>
                </a:solidFill>
                <a:latin typeface="Courier New"/>
                <a:cs typeface="Courier New"/>
              </a:rPr>
              <a:t>give</a:t>
            </a:r>
            <a:r>
              <a:rPr sz="950" spc="40" dirty="0">
                <a:solidFill>
                  <a:srgbClr val="C9F5CF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9F5CF"/>
                </a:solidFill>
                <a:latin typeface="Courier New"/>
                <a:cs typeface="Courier New"/>
              </a:rPr>
              <a:t>useful</a:t>
            </a:r>
            <a:r>
              <a:rPr sz="950" spc="40" dirty="0">
                <a:solidFill>
                  <a:srgbClr val="C9F5CF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9F5CF"/>
                </a:solidFill>
                <a:latin typeface="Courier New"/>
                <a:cs typeface="Courier New"/>
              </a:rPr>
              <a:t>signals</a:t>
            </a:r>
            <a:r>
              <a:rPr sz="950" spc="40" dirty="0">
                <a:solidFill>
                  <a:srgbClr val="C9F5CF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9F5CF"/>
                </a:solidFill>
                <a:latin typeface="Courier New"/>
                <a:cs typeface="Courier New"/>
              </a:rPr>
              <a:t>for</a:t>
            </a:r>
            <a:r>
              <a:rPr sz="950" spc="40" dirty="0">
                <a:solidFill>
                  <a:srgbClr val="C9F5CF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C9F5CF"/>
                </a:solidFill>
                <a:latin typeface="Courier New"/>
                <a:cs typeface="Courier New"/>
              </a:rPr>
              <a:t>investigation.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1299" y="2990433"/>
            <a:ext cx="779780" cy="17653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00" spc="-10" dirty="0">
                <a:solidFill>
                  <a:srgbClr val="74A982"/>
                </a:solidFill>
                <a:latin typeface="Courier New"/>
                <a:cs typeface="Courier New"/>
              </a:rPr>
              <a:t>SpectreSync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14"/>
              </a:spcBef>
            </a:pPr>
            <a:fld id="{81D60167-4931-47E6-BA6A-407CBD079E47}" type="slidenum">
              <a:rPr spc="-25" dirty="0"/>
              <a:t>2</a:t>
            </a:fld>
            <a:r>
              <a:rPr spc="-25" dirty="0"/>
              <a:t>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90" dirty="0">
                <a:solidFill>
                  <a:srgbClr val="4BF07A"/>
                </a:solidFill>
              </a:rPr>
              <a:t>$</a:t>
            </a:r>
            <a:r>
              <a:rPr spc="335" dirty="0">
                <a:solidFill>
                  <a:srgbClr val="4BF07A"/>
                </a:solidFill>
              </a:rPr>
              <a:t> </a:t>
            </a:r>
            <a:r>
              <a:rPr spc="-120" dirty="0"/>
              <a:t>Three</a:t>
            </a:r>
            <a:r>
              <a:rPr spc="335" dirty="0"/>
              <a:t> </a:t>
            </a:r>
            <a:r>
              <a:rPr spc="-80" dirty="0"/>
              <a:t>agents</a:t>
            </a:r>
            <a:r>
              <a:rPr spc="335" dirty="0"/>
              <a:t> </a:t>
            </a:r>
            <a:r>
              <a:rPr spc="-254" dirty="0"/>
              <a:t>watch</a:t>
            </a:r>
            <a:r>
              <a:rPr spc="340" dirty="0"/>
              <a:t> </a:t>
            </a:r>
            <a:r>
              <a:rPr spc="-325" dirty="0"/>
              <a:t>one</a:t>
            </a:r>
            <a:r>
              <a:rPr spc="335" dirty="0"/>
              <a:t> </a:t>
            </a:r>
            <a:r>
              <a:rPr spc="-135" dirty="0"/>
              <a:t>perimeter</a:t>
            </a:r>
          </a:p>
        </p:txBody>
      </p:sp>
      <p:sp>
        <p:nvSpPr>
          <p:cNvPr id="3" name="object 3"/>
          <p:cNvSpPr/>
          <p:nvPr/>
        </p:nvSpPr>
        <p:spPr>
          <a:xfrm>
            <a:off x="323999" y="590049"/>
            <a:ext cx="5112385" cy="0"/>
          </a:xfrm>
          <a:custGeom>
            <a:avLst/>
            <a:gdLst/>
            <a:ahLst/>
            <a:cxnLst/>
            <a:rect l="l" t="t" r="r" b="b"/>
            <a:pathLst>
              <a:path w="5112385">
                <a:moveTo>
                  <a:pt x="0" y="0"/>
                </a:moveTo>
                <a:lnTo>
                  <a:pt x="5111999" y="0"/>
                </a:lnTo>
              </a:path>
            </a:pathLst>
          </a:custGeom>
          <a:ln w="10160">
            <a:solidFill>
              <a:srgbClr val="24392B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11299" y="703866"/>
            <a:ext cx="4056379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74A982"/>
                </a:solidFill>
                <a:latin typeface="Courier New"/>
                <a:cs typeface="Courier New"/>
              </a:rPr>
              <a:t>So</a:t>
            </a:r>
            <a:r>
              <a:rPr sz="1150" spc="-5" dirty="0">
                <a:solidFill>
                  <a:srgbClr val="74A982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74A982"/>
                </a:solidFill>
                <a:latin typeface="Courier New"/>
                <a:cs typeface="Courier New"/>
              </a:rPr>
              <a:t>the</a:t>
            </a:r>
            <a:r>
              <a:rPr sz="1150" spc="-5" dirty="0">
                <a:solidFill>
                  <a:srgbClr val="74A982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74A982"/>
                </a:solidFill>
                <a:latin typeface="Courier New"/>
                <a:cs typeface="Courier New"/>
              </a:rPr>
              <a:t>watching</a:t>
            </a:r>
            <a:r>
              <a:rPr sz="1150" spc="-5" dirty="0">
                <a:solidFill>
                  <a:srgbClr val="74A982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74A982"/>
                </a:solidFill>
                <a:latin typeface="Courier New"/>
                <a:cs typeface="Courier New"/>
              </a:rPr>
              <a:t>is</a:t>
            </a:r>
            <a:r>
              <a:rPr sz="1150" spc="-5" dirty="0">
                <a:solidFill>
                  <a:srgbClr val="74A982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74A982"/>
                </a:solidFill>
                <a:latin typeface="Courier New"/>
                <a:cs typeface="Courier New"/>
              </a:rPr>
              <a:t>split</a:t>
            </a:r>
            <a:r>
              <a:rPr sz="1150" spc="-5" dirty="0">
                <a:solidFill>
                  <a:srgbClr val="74A982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74A982"/>
                </a:solidFill>
                <a:latin typeface="Courier New"/>
                <a:cs typeface="Courier New"/>
              </a:rPr>
              <a:t>between</a:t>
            </a:r>
            <a:r>
              <a:rPr sz="1150" spc="-5" dirty="0">
                <a:solidFill>
                  <a:srgbClr val="74A982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74A982"/>
                </a:solidFill>
                <a:latin typeface="Courier New"/>
                <a:cs typeface="Courier New"/>
              </a:rPr>
              <a:t>three</a:t>
            </a:r>
            <a:r>
              <a:rPr sz="1150" spc="-5" dirty="0">
                <a:solidFill>
                  <a:srgbClr val="74A982"/>
                </a:solidFill>
                <a:latin typeface="Courier New"/>
                <a:cs typeface="Courier New"/>
              </a:rPr>
              <a:t> </a:t>
            </a:r>
            <a:r>
              <a:rPr sz="1150" spc="-10" dirty="0">
                <a:solidFill>
                  <a:srgbClr val="74A982"/>
                </a:solidFill>
                <a:latin typeface="Courier New"/>
                <a:cs typeface="Courier New"/>
              </a:rPr>
              <a:t>agents.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23999" y="936315"/>
            <a:ext cx="1616075" cy="1370965"/>
          </a:xfrm>
          <a:custGeom>
            <a:avLst/>
            <a:gdLst/>
            <a:ahLst/>
            <a:cxnLst/>
            <a:rect l="l" t="t" r="r" b="b"/>
            <a:pathLst>
              <a:path w="1616075" h="1370964">
                <a:moveTo>
                  <a:pt x="1615680" y="1370942"/>
                </a:moveTo>
                <a:lnTo>
                  <a:pt x="0" y="1370942"/>
                </a:lnTo>
                <a:lnTo>
                  <a:pt x="0" y="0"/>
                </a:lnTo>
                <a:lnTo>
                  <a:pt x="1615680" y="0"/>
                </a:lnTo>
                <a:lnTo>
                  <a:pt x="1615680" y="1370942"/>
                </a:lnTo>
                <a:close/>
              </a:path>
            </a:pathLst>
          </a:custGeom>
          <a:solidFill>
            <a:srgbClr val="1220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16456" y="1000379"/>
            <a:ext cx="614680" cy="3530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25" dirty="0">
                <a:solidFill>
                  <a:srgbClr val="4BF07A"/>
                </a:solidFill>
                <a:latin typeface="Courier New"/>
                <a:cs typeface="Courier New"/>
              </a:rPr>
              <a:t>01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1250" spc="-10" dirty="0">
                <a:solidFill>
                  <a:srgbClr val="C9F5CF"/>
                </a:solidFill>
                <a:latin typeface="Courier New"/>
                <a:cs typeface="Courier New"/>
              </a:rPr>
              <a:t>Triage</a:t>
            </a:r>
            <a:endParaRPr sz="125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6456" y="1411247"/>
            <a:ext cx="1413510" cy="151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dirty="0">
                <a:solidFill>
                  <a:srgbClr val="C9F5CF"/>
                </a:solidFill>
                <a:latin typeface="Courier New"/>
                <a:cs typeface="Courier New"/>
              </a:rPr>
              <a:t>Scores</a:t>
            </a:r>
            <a:r>
              <a:rPr sz="800" spc="110" dirty="0">
                <a:solidFill>
                  <a:srgbClr val="C9F5C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C9F5CF"/>
                </a:solidFill>
                <a:latin typeface="Courier New"/>
                <a:cs typeface="Courier New"/>
              </a:rPr>
              <a:t>each</a:t>
            </a:r>
            <a:r>
              <a:rPr sz="800" spc="110" dirty="0">
                <a:solidFill>
                  <a:srgbClr val="C9F5C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C9F5CF"/>
                </a:solidFill>
                <a:latin typeface="Courier New"/>
                <a:cs typeface="Courier New"/>
              </a:rPr>
              <a:t>probe</a:t>
            </a:r>
            <a:r>
              <a:rPr sz="800" spc="110" dirty="0">
                <a:solidFill>
                  <a:srgbClr val="C9F5CF"/>
                </a:solidFill>
                <a:latin typeface="Courier New"/>
                <a:cs typeface="Courier New"/>
              </a:rPr>
              <a:t> </a:t>
            </a:r>
            <a:r>
              <a:rPr sz="800" spc="-20" dirty="0">
                <a:solidFill>
                  <a:srgbClr val="C9F5CF"/>
                </a:solidFill>
                <a:latin typeface="Courier New"/>
                <a:cs typeface="Courier New"/>
              </a:rPr>
              <a:t>from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6456" y="1537434"/>
            <a:ext cx="1413510" cy="294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0400"/>
              </a:lnSpc>
              <a:spcBef>
                <a:spcPts val="95"/>
              </a:spcBef>
            </a:pPr>
            <a:r>
              <a:rPr sz="800" dirty="0">
                <a:solidFill>
                  <a:srgbClr val="C9F5CF"/>
                </a:solidFill>
                <a:latin typeface="Courier New"/>
                <a:cs typeface="Courier New"/>
              </a:rPr>
              <a:t>request headers, </a:t>
            </a:r>
            <a:r>
              <a:rPr sz="800" spc="-20" dirty="0">
                <a:solidFill>
                  <a:srgbClr val="C9F5CF"/>
                </a:solidFill>
                <a:latin typeface="Courier New"/>
                <a:cs typeface="Courier New"/>
              </a:rPr>
              <a:t>User-</a:t>
            </a:r>
            <a:r>
              <a:rPr sz="800" dirty="0">
                <a:solidFill>
                  <a:srgbClr val="C9F5CF"/>
                </a:solidFill>
                <a:latin typeface="Courier New"/>
                <a:cs typeface="Courier New"/>
              </a:rPr>
              <a:t>Agent</a:t>
            </a:r>
            <a:r>
              <a:rPr sz="800" spc="175" dirty="0">
                <a:solidFill>
                  <a:srgbClr val="C9F5C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C9F5CF"/>
                </a:solidFill>
                <a:latin typeface="Courier New"/>
                <a:cs typeface="Courier New"/>
              </a:rPr>
              <a:t>fingerprints</a:t>
            </a:r>
            <a:r>
              <a:rPr sz="800" spc="175" dirty="0">
                <a:solidFill>
                  <a:srgbClr val="C9F5CF"/>
                </a:solidFill>
                <a:latin typeface="Courier New"/>
                <a:cs typeface="Courier New"/>
              </a:rPr>
              <a:t> </a:t>
            </a:r>
            <a:r>
              <a:rPr sz="800" spc="-25" dirty="0">
                <a:solidFill>
                  <a:srgbClr val="C9F5CF"/>
                </a:solidFill>
                <a:latin typeface="Courier New"/>
                <a:cs typeface="Courier New"/>
              </a:rPr>
              <a:t>and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6456" y="1806633"/>
            <a:ext cx="1413510" cy="294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0400"/>
              </a:lnSpc>
              <a:spcBef>
                <a:spcPts val="95"/>
              </a:spcBef>
            </a:pPr>
            <a:r>
              <a:rPr sz="800" dirty="0">
                <a:solidFill>
                  <a:srgbClr val="C9F5CF"/>
                </a:solidFill>
                <a:latin typeface="Courier New"/>
                <a:cs typeface="Courier New"/>
              </a:rPr>
              <a:t>traffic</a:t>
            </a:r>
            <a:r>
              <a:rPr sz="800" spc="120" dirty="0">
                <a:solidFill>
                  <a:srgbClr val="C9F5C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C9F5CF"/>
                </a:solidFill>
                <a:latin typeface="Courier New"/>
                <a:cs typeface="Courier New"/>
              </a:rPr>
              <a:t>velocity,</a:t>
            </a:r>
            <a:r>
              <a:rPr sz="800" spc="125" dirty="0">
                <a:solidFill>
                  <a:srgbClr val="C9F5C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C9F5CF"/>
                </a:solidFill>
                <a:latin typeface="Courier New"/>
                <a:cs typeface="Courier New"/>
              </a:rPr>
              <a:t>0</a:t>
            </a:r>
            <a:r>
              <a:rPr sz="800" spc="120" dirty="0">
                <a:solidFill>
                  <a:srgbClr val="C9F5CF"/>
                </a:solidFill>
                <a:latin typeface="Courier New"/>
                <a:cs typeface="Courier New"/>
              </a:rPr>
              <a:t> </a:t>
            </a:r>
            <a:r>
              <a:rPr sz="800" spc="-25" dirty="0">
                <a:solidFill>
                  <a:srgbClr val="C9F5CF"/>
                </a:solidFill>
                <a:latin typeface="Courier New"/>
                <a:cs typeface="Courier New"/>
              </a:rPr>
              <a:t>to </a:t>
            </a:r>
            <a:r>
              <a:rPr sz="800" spc="-10" dirty="0">
                <a:solidFill>
                  <a:srgbClr val="C9F5CF"/>
                </a:solidFill>
                <a:latin typeface="Courier New"/>
                <a:cs typeface="Courier New"/>
              </a:rPr>
              <a:t>100%.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072159" y="936315"/>
            <a:ext cx="1616075" cy="1370965"/>
          </a:xfrm>
          <a:custGeom>
            <a:avLst/>
            <a:gdLst/>
            <a:ahLst/>
            <a:cxnLst/>
            <a:rect l="l" t="t" r="r" b="b"/>
            <a:pathLst>
              <a:path w="1616075" h="1370964">
                <a:moveTo>
                  <a:pt x="1615680" y="1370942"/>
                </a:moveTo>
                <a:lnTo>
                  <a:pt x="0" y="1370942"/>
                </a:lnTo>
                <a:lnTo>
                  <a:pt x="0" y="0"/>
                </a:lnTo>
                <a:lnTo>
                  <a:pt x="1615680" y="0"/>
                </a:lnTo>
                <a:lnTo>
                  <a:pt x="1615680" y="1370942"/>
                </a:lnTo>
                <a:close/>
              </a:path>
            </a:pathLst>
          </a:custGeom>
          <a:solidFill>
            <a:srgbClr val="1220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164615" y="1000379"/>
            <a:ext cx="909319" cy="3530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25" dirty="0">
                <a:solidFill>
                  <a:srgbClr val="4BF07A"/>
                </a:solidFill>
                <a:latin typeface="Courier New"/>
                <a:cs typeface="Courier New"/>
              </a:rPr>
              <a:t>02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1250" spc="-10" dirty="0">
                <a:solidFill>
                  <a:srgbClr val="C9F5CF"/>
                </a:solidFill>
                <a:latin typeface="Courier New"/>
                <a:cs typeface="Courier New"/>
              </a:rPr>
              <a:t>Deception</a:t>
            </a:r>
            <a:endParaRPr sz="125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164615" y="1411247"/>
            <a:ext cx="782955" cy="151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dirty="0">
                <a:solidFill>
                  <a:srgbClr val="C9F5CF"/>
                </a:solidFill>
                <a:latin typeface="Courier New"/>
                <a:cs typeface="Courier New"/>
              </a:rPr>
              <a:t>Crafts</a:t>
            </a:r>
            <a:r>
              <a:rPr sz="800" spc="125" dirty="0">
                <a:solidFill>
                  <a:srgbClr val="C9F5C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C9F5CF"/>
                </a:solidFill>
                <a:latin typeface="Courier New"/>
                <a:cs typeface="Courier New"/>
              </a:rPr>
              <a:t>decoy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164615" y="1537434"/>
            <a:ext cx="1224280" cy="294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0400"/>
              </a:lnSpc>
              <a:spcBef>
                <a:spcPts val="95"/>
              </a:spcBef>
            </a:pPr>
            <a:r>
              <a:rPr sz="800" dirty="0">
                <a:solidFill>
                  <a:srgbClr val="C9F5CF"/>
                </a:solidFill>
                <a:latin typeface="Courier New"/>
                <a:cs typeface="Courier New"/>
              </a:rPr>
              <a:t>endpoints,</a:t>
            </a:r>
            <a:r>
              <a:rPr sz="800" spc="204" dirty="0">
                <a:solidFill>
                  <a:srgbClr val="C9F5CF"/>
                </a:solidFill>
                <a:latin typeface="Courier New"/>
                <a:cs typeface="Courier New"/>
              </a:rPr>
              <a:t> </a:t>
            </a:r>
            <a:r>
              <a:rPr sz="800" spc="-20" dirty="0">
                <a:solidFill>
                  <a:srgbClr val="C9F5CF"/>
                </a:solidFill>
                <a:latin typeface="Courier New"/>
                <a:cs typeface="Courier New"/>
              </a:rPr>
              <a:t>mock </a:t>
            </a:r>
            <a:r>
              <a:rPr sz="800" dirty="0">
                <a:solidFill>
                  <a:srgbClr val="C9F5CF"/>
                </a:solidFill>
                <a:latin typeface="Courier New"/>
                <a:cs typeface="Courier New"/>
              </a:rPr>
              <a:t>payload</a:t>
            </a:r>
            <a:r>
              <a:rPr sz="800" spc="145" dirty="0">
                <a:solidFill>
                  <a:srgbClr val="C9F5C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C9F5CF"/>
                </a:solidFill>
                <a:latin typeface="Courier New"/>
                <a:cs typeface="Courier New"/>
              </a:rPr>
              <a:t>schemas</a:t>
            </a:r>
            <a:r>
              <a:rPr sz="800" spc="150" dirty="0">
                <a:solidFill>
                  <a:srgbClr val="C9F5CF"/>
                </a:solidFill>
                <a:latin typeface="Courier New"/>
                <a:cs typeface="Courier New"/>
              </a:rPr>
              <a:t> </a:t>
            </a:r>
            <a:r>
              <a:rPr sz="800" spc="-25" dirty="0">
                <a:solidFill>
                  <a:srgbClr val="C9F5CF"/>
                </a:solidFill>
                <a:latin typeface="Courier New"/>
                <a:cs typeface="Courier New"/>
              </a:rPr>
              <a:t>and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164615" y="1806633"/>
            <a:ext cx="1161415" cy="4292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0400"/>
              </a:lnSpc>
              <a:spcBef>
                <a:spcPts val="95"/>
              </a:spcBef>
            </a:pPr>
            <a:r>
              <a:rPr sz="800" dirty="0">
                <a:solidFill>
                  <a:srgbClr val="C9F5CF"/>
                </a:solidFill>
                <a:latin typeface="Courier New"/>
                <a:cs typeface="Courier New"/>
              </a:rPr>
              <a:t>embedded</a:t>
            </a:r>
            <a:r>
              <a:rPr sz="800" spc="165" dirty="0">
                <a:solidFill>
                  <a:srgbClr val="C9F5C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C9F5CF"/>
                </a:solidFill>
                <a:latin typeface="Courier New"/>
                <a:cs typeface="Courier New"/>
              </a:rPr>
              <a:t>canary </a:t>
            </a:r>
            <a:r>
              <a:rPr sz="800" dirty="0">
                <a:solidFill>
                  <a:srgbClr val="C9F5CF"/>
                </a:solidFill>
                <a:latin typeface="Courier New"/>
                <a:cs typeface="Courier New"/>
              </a:rPr>
              <a:t>tracking</a:t>
            </a:r>
            <a:r>
              <a:rPr sz="800" spc="145" dirty="0">
                <a:solidFill>
                  <a:srgbClr val="C9F5C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C9F5CF"/>
                </a:solidFill>
                <a:latin typeface="Courier New"/>
                <a:cs typeface="Courier New"/>
              </a:rPr>
              <a:t>tokens</a:t>
            </a:r>
            <a:r>
              <a:rPr sz="800" spc="150" dirty="0">
                <a:solidFill>
                  <a:srgbClr val="C9F5CF"/>
                </a:solidFill>
                <a:latin typeface="Courier New"/>
                <a:cs typeface="Courier New"/>
              </a:rPr>
              <a:t> </a:t>
            </a:r>
            <a:r>
              <a:rPr sz="800" spc="-25" dirty="0">
                <a:solidFill>
                  <a:srgbClr val="C9F5CF"/>
                </a:solidFill>
                <a:latin typeface="Courier New"/>
                <a:cs typeface="Courier New"/>
              </a:rPr>
              <a:t>on </a:t>
            </a:r>
            <a:r>
              <a:rPr sz="800" spc="-10" dirty="0">
                <a:solidFill>
                  <a:srgbClr val="C9F5CF"/>
                </a:solidFill>
                <a:latin typeface="Courier New"/>
                <a:cs typeface="Courier New"/>
              </a:rPr>
              <a:t>demand.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820319" y="936315"/>
            <a:ext cx="1616075" cy="1370965"/>
          </a:xfrm>
          <a:custGeom>
            <a:avLst/>
            <a:gdLst/>
            <a:ahLst/>
            <a:cxnLst/>
            <a:rect l="l" t="t" r="r" b="b"/>
            <a:pathLst>
              <a:path w="1616075" h="1370964">
                <a:moveTo>
                  <a:pt x="1615680" y="1370942"/>
                </a:moveTo>
                <a:lnTo>
                  <a:pt x="0" y="1370942"/>
                </a:lnTo>
                <a:lnTo>
                  <a:pt x="0" y="0"/>
                </a:lnTo>
                <a:lnTo>
                  <a:pt x="1615680" y="0"/>
                </a:lnTo>
                <a:lnTo>
                  <a:pt x="1615680" y="1370942"/>
                </a:lnTo>
                <a:close/>
              </a:path>
            </a:pathLst>
          </a:custGeom>
          <a:solidFill>
            <a:srgbClr val="1220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912775" y="1000379"/>
            <a:ext cx="1203325" cy="3530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25" dirty="0">
                <a:solidFill>
                  <a:srgbClr val="4BF07A"/>
                </a:solidFill>
                <a:latin typeface="Courier New"/>
                <a:cs typeface="Courier New"/>
              </a:rPr>
              <a:t>03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1250" spc="-10" dirty="0">
                <a:solidFill>
                  <a:srgbClr val="C9F5CF"/>
                </a:solidFill>
                <a:latin typeface="Courier New"/>
                <a:cs typeface="Courier New"/>
              </a:rPr>
              <a:t>Entanglement</a:t>
            </a:r>
            <a:endParaRPr sz="125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912775" y="1411247"/>
            <a:ext cx="1161415" cy="151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dirty="0">
                <a:solidFill>
                  <a:srgbClr val="C9F5CF"/>
                </a:solidFill>
                <a:latin typeface="Courier New"/>
                <a:cs typeface="Courier New"/>
              </a:rPr>
              <a:t>Injects</a:t>
            </a:r>
            <a:r>
              <a:rPr sz="800" spc="145" dirty="0">
                <a:solidFill>
                  <a:srgbClr val="C9F5C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C9F5CF"/>
                </a:solidFill>
                <a:latin typeface="Courier New"/>
                <a:cs typeface="Courier New"/>
              </a:rPr>
              <a:t>artificial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912775" y="1537434"/>
            <a:ext cx="1287780" cy="294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0400"/>
              </a:lnSpc>
              <a:spcBef>
                <a:spcPts val="95"/>
              </a:spcBef>
            </a:pPr>
            <a:r>
              <a:rPr sz="800" dirty="0">
                <a:solidFill>
                  <a:srgbClr val="C9F5CF"/>
                </a:solidFill>
                <a:latin typeface="Courier New"/>
                <a:cs typeface="Courier New"/>
              </a:rPr>
              <a:t>response</a:t>
            </a:r>
            <a:r>
              <a:rPr sz="800" spc="145" dirty="0">
                <a:solidFill>
                  <a:srgbClr val="C9F5C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C9F5CF"/>
                </a:solidFill>
                <a:latin typeface="Courier New"/>
                <a:cs typeface="Courier New"/>
              </a:rPr>
              <a:t>delays</a:t>
            </a:r>
            <a:r>
              <a:rPr sz="800" spc="150" dirty="0">
                <a:solidFill>
                  <a:srgbClr val="C9F5CF"/>
                </a:solidFill>
                <a:latin typeface="Courier New"/>
                <a:cs typeface="Courier New"/>
              </a:rPr>
              <a:t> </a:t>
            </a:r>
            <a:r>
              <a:rPr sz="800" spc="-25" dirty="0">
                <a:solidFill>
                  <a:srgbClr val="C9F5CF"/>
                </a:solidFill>
                <a:latin typeface="Courier New"/>
                <a:cs typeface="Courier New"/>
              </a:rPr>
              <a:t>and </a:t>
            </a:r>
            <a:r>
              <a:rPr sz="800" dirty="0">
                <a:solidFill>
                  <a:srgbClr val="C9F5CF"/>
                </a:solidFill>
                <a:latin typeface="Courier New"/>
                <a:cs typeface="Courier New"/>
              </a:rPr>
              <a:t>jitter</a:t>
            </a:r>
            <a:r>
              <a:rPr sz="800" spc="110" dirty="0">
                <a:solidFill>
                  <a:srgbClr val="C9F5C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C9F5CF"/>
                </a:solidFill>
                <a:latin typeface="Courier New"/>
                <a:cs typeface="Courier New"/>
              </a:rPr>
              <a:t>from</a:t>
            </a:r>
            <a:r>
              <a:rPr sz="800" spc="110" dirty="0">
                <a:solidFill>
                  <a:srgbClr val="C9F5C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C9F5CF"/>
                </a:solidFill>
                <a:latin typeface="Courier New"/>
                <a:cs typeface="Courier New"/>
              </a:rPr>
              <a:t>500ms</a:t>
            </a:r>
            <a:r>
              <a:rPr sz="800" spc="110" dirty="0">
                <a:solidFill>
                  <a:srgbClr val="C9F5CF"/>
                </a:solidFill>
                <a:latin typeface="Courier New"/>
                <a:cs typeface="Courier New"/>
              </a:rPr>
              <a:t> </a:t>
            </a:r>
            <a:r>
              <a:rPr sz="800" spc="-25" dirty="0">
                <a:solidFill>
                  <a:srgbClr val="C9F5CF"/>
                </a:solidFill>
                <a:latin typeface="Courier New"/>
                <a:cs typeface="Courier New"/>
              </a:rPr>
              <a:t>to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912775" y="1806633"/>
            <a:ext cx="1098550" cy="294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0400"/>
              </a:lnSpc>
              <a:spcBef>
                <a:spcPts val="95"/>
              </a:spcBef>
            </a:pPr>
            <a:r>
              <a:rPr sz="800" dirty="0">
                <a:solidFill>
                  <a:srgbClr val="C9F5CF"/>
                </a:solidFill>
                <a:latin typeface="Courier New"/>
                <a:cs typeface="Courier New"/>
              </a:rPr>
              <a:t>10,000ms</a:t>
            </a:r>
            <a:r>
              <a:rPr sz="800" spc="110" dirty="0">
                <a:solidFill>
                  <a:srgbClr val="C9F5C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C9F5CF"/>
                </a:solidFill>
                <a:latin typeface="Courier New"/>
                <a:cs typeface="Courier New"/>
              </a:rPr>
              <a:t>to</a:t>
            </a:r>
            <a:r>
              <a:rPr sz="800" spc="110" dirty="0">
                <a:solidFill>
                  <a:srgbClr val="C9F5CF"/>
                </a:solidFill>
                <a:latin typeface="Courier New"/>
                <a:cs typeface="Courier New"/>
              </a:rPr>
              <a:t> </a:t>
            </a:r>
            <a:r>
              <a:rPr sz="800" spc="-20" dirty="0">
                <a:solidFill>
                  <a:srgbClr val="C9F5CF"/>
                </a:solidFill>
                <a:latin typeface="Courier New"/>
                <a:cs typeface="Courier New"/>
              </a:rPr>
              <a:t>lock </a:t>
            </a:r>
            <a:r>
              <a:rPr sz="800" dirty="0">
                <a:solidFill>
                  <a:srgbClr val="C9F5CF"/>
                </a:solidFill>
                <a:latin typeface="Courier New"/>
                <a:cs typeface="Courier New"/>
              </a:rPr>
              <a:t>attacker</a:t>
            </a:r>
            <a:r>
              <a:rPr sz="800" spc="165" dirty="0">
                <a:solidFill>
                  <a:srgbClr val="C9F5C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C9F5CF"/>
                </a:solidFill>
                <a:latin typeface="Courier New"/>
                <a:cs typeface="Courier New"/>
              </a:rPr>
              <a:t>sockets.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11299" y="2561537"/>
            <a:ext cx="5073015" cy="294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0400"/>
              </a:lnSpc>
              <a:spcBef>
                <a:spcPts val="95"/>
              </a:spcBef>
            </a:pPr>
            <a:r>
              <a:rPr sz="800" dirty="0">
                <a:solidFill>
                  <a:srgbClr val="74A982"/>
                </a:solidFill>
                <a:latin typeface="Courier New"/>
                <a:cs typeface="Courier New"/>
              </a:rPr>
              <a:t>Runs</a:t>
            </a:r>
            <a:r>
              <a:rPr sz="800" spc="130" dirty="0">
                <a:solidFill>
                  <a:srgbClr val="74A982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74A982"/>
                </a:solidFill>
                <a:latin typeface="Courier New"/>
                <a:cs typeface="Courier New"/>
              </a:rPr>
              <a:t>on</a:t>
            </a:r>
            <a:r>
              <a:rPr sz="800" spc="135" dirty="0">
                <a:solidFill>
                  <a:srgbClr val="74A982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74A982"/>
                </a:solidFill>
                <a:latin typeface="Courier New"/>
                <a:cs typeface="Courier New"/>
              </a:rPr>
              <a:t>Python,</a:t>
            </a:r>
            <a:r>
              <a:rPr sz="800" spc="130" dirty="0">
                <a:solidFill>
                  <a:srgbClr val="74A982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74A982"/>
                </a:solidFill>
                <a:latin typeface="Courier New"/>
                <a:cs typeface="Courier New"/>
              </a:rPr>
              <a:t>Streamlit,</a:t>
            </a:r>
            <a:r>
              <a:rPr sz="800" spc="135" dirty="0">
                <a:solidFill>
                  <a:srgbClr val="74A982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74A982"/>
                </a:solidFill>
                <a:latin typeface="Courier New"/>
                <a:cs typeface="Courier New"/>
              </a:rPr>
              <a:t>Pandas,</a:t>
            </a:r>
            <a:r>
              <a:rPr sz="800" spc="130" dirty="0">
                <a:solidFill>
                  <a:srgbClr val="74A982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74A982"/>
                </a:solidFill>
                <a:latin typeface="Courier New"/>
                <a:cs typeface="Courier New"/>
              </a:rPr>
              <a:t>FastAPI,</a:t>
            </a:r>
            <a:r>
              <a:rPr sz="800" spc="135" dirty="0">
                <a:solidFill>
                  <a:srgbClr val="74A982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74A982"/>
                </a:solidFill>
                <a:latin typeface="Courier New"/>
                <a:cs typeface="Courier New"/>
              </a:rPr>
              <a:t>Uvicorn,</a:t>
            </a:r>
            <a:r>
              <a:rPr sz="800" spc="130" dirty="0">
                <a:solidFill>
                  <a:srgbClr val="74A982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74A982"/>
                </a:solidFill>
                <a:latin typeface="Courier New"/>
                <a:cs typeface="Courier New"/>
              </a:rPr>
              <a:t>SqLite,</a:t>
            </a:r>
            <a:r>
              <a:rPr sz="800" spc="135" dirty="0">
                <a:solidFill>
                  <a:srgbClr val="74A982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74A982"/>
                </a:solidFill>
                <a:latin typeface="Courier New"/>
                <a:cs typeface="Courier New"/>
              </a:rPr>
              <a:t>Express</a:t>
            </a:r>
            <a:r>
              <a:rPr sz="800" spc="135" dirty="0">
                <a:solidFill>
                  <a:srgbClr val="74A982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74A982"/>
                </a:solidFill>
                <a:latin typeface="Courier New"/>
                <a:cs typeface="Courier New"/>
              </a:rPr>
              <a:t>on</a:t>
            </a:r>
            <a:r>
              <a:rPr sz="800" spc="130" dirty="0">
                <a:solidFill>
                  <a:srgbClr val="74A982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74A982"/>
                </a:solidFill>
                <a:latin typeface="Courier New"/>
                <a:cs typeface="Courier New"/>
              </a:rPr>
              <a:t>Node.js, </a:t>
            </a:r>
            <a:r>
              <a:rPr sz="800" dirty="0">
                <a:solidFill>
                  <a:srgbClr val="74A982"/>
                </a:solidFill>
                <a:latin typeface="Courier New"/>
                <a:cs typeface="Courier New"/>
              </a:rPr>
              <a:t>Next.js,</a:t>
            </a:r>
            <a:r>
              <a:rPr sz="800" spc="145" dirty="0">
                <a:solidFill>
                  <a:srgbClr val="74A982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74A982"/>
                </a:solidFill>
                <a:latin typeface="Courier New"/>
                <a:cs typeface="Courier New"/>
              </a:rPr>
              <a:t>React,</a:t>
            </a:r>
            <a:r>
              <a:rPr sz="800" spc="150" dirty="0">
                <a:solidFill>
                  <a:srgbClr val="74A982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74A982"/>
                </a:solidFill>
                <a:latin typeface="Courier New"/>
                <a:cs typeface="Courier New"/>
              </a:rPr>
              <a:t>TypeScript</a:t>
            </a:r>
            <a:r>
              <a:rPr sz="800" spc="145" dirty="0">
                <a:solidFill>
                  <a:srgbClr val="74A982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74A982"/>
                </a:solidFill>
                <a:latin typeface="Courier New"/>
                <a:cs typeface="Courier New"/>
              </a:rPr>
              <a:t>and</a:t>
            </a:r>
            <a:r>
              <a:rPr sz="800" spc="150" dirty="0">
                <a:solidFill>
                  <a:srgbClr val="74A982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74A982"/>
                </a:solidFill>
                <a:latin typeface="Courier New"/>
                <a:cs typeface="Courier New"/>
              </a:rPr>
              <a:t>Tailwind</a:t>
            </a:r>
            <a:r>
              <a:rPr sz="800" spc="150" dirty="0">
                <a:solidFill>
                  <a:srgbClr val="74A982"/>
                </a:solidFill>
                <a:latin typeface="Courier New"/>
                <a:cs typeface="Courier New"/>
              </a:rPr>
              <a:t> </a:t>
            </a:r>
            <a:r>
              <a:rPr sz="800" spc="-20" dirty="0">
                <a:solidFill>
                  <a:srgbClr val="74A982"/>
                </a:solidFill>
                <a:latin typeface="Courier New"/>
                <a:cs typeface="Courier New"/>
              </a:rPr>
              <a:t>CSS.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11299" y="2990433"/>
            <a:ext cx="779780" cy="17653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00" spc="-10" dirty="0">
                <a:solidFill>
                  <a:srgbClr val="74A982"/>
                </a:solidFill>
                <a:latin typeface="Courier New"/>
                <a:cs typeface="Courier New"/>
              </a:rPr>
              <a:t>SpectreSync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14"/>
              </a:spcBef>
            </a:pPr>
            <a:fld id="{81D60167-4931-47E6-BA6A-407CBD079E47}" type="slidenum">
              <a:rPr spc="-25" dirty="0"/>
              <a:t>3</a:t>
            </a:fld>
            <a:r>
              <a:rPr spc="-25" dirty="0"/>
              <a:t>/9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350" dirty="0">
                <a:solidFill>
                  <a:srgbClr val="4BF07A"/>
                </a:solidFill>
              </a:rPr>
              <a:t>$</a:t>
            </a:r>
            <a:r>
              <a:rPr sz="2350" spc="225" dirty="0">
                <a:solidFill>
                  <a:srgbClr val="4BF07A"/>
                </a:solidFill>
              </a:rPr>
              <a:t> </a:t>
            </a:r>
            <a:r>
              <a:rPr sz="2350" spc="70" dirty="0"/>
              <a:t>Six</a:t>
            </a:r>
            <a:r>
              <a:rPr sz="2350" spc="229" dirty="0"/>
              <a:t> </a:t>
            </a:r>
            <a:r>
              <a:rPr sz="2350" dirty="0"/>
              <a:t>steps</a:t>
            </a:r>
            <a:r>
              <a:rPr sz="2350" spc="235" dirty="0"/>
              <a:t> </a:t>
            </a:r>
            <a:r>
              <a:rPr sz="2350" dirty="0"/>
              <a:t>turn</a:t>
            </a:r>
            <a:r>
              <a:rPr sz="2350" spc="235" dirty="0"/>
              <a:t> </a:t>
            </a:r>
            <a:r>
              <a:rPr sz="2350" dirty="0"/>
              <a:t>a</a:t>
            </a:r>
            <a:r>
              <a:rPr sz="2350" spc="229" dirty="0"/>
              <a:t> </a:t>
            </a:r>
            <a:r>
              <a:rPr sz="2350" spc="-105" dirty="0"/>
              <a:t>repo</a:t>
            </a:r>
            <a:r>
              <a:rPr sz="2350" spc="235" dirty="0"/>
              <a:t> </a:t>
            </a:r>
            <a:r>
              <a:rPr sz="2350" dirty="0"/>
              <a:t>into</a:t>
            </a:r>
            <a:r>
              <a:rPr sz="2350" spc="229" dirty="0"/>
              <a:t> </a:t>
            </a:r>
            <a:r>
              <a:rPr sz="2350" dirty="0"/>
              <a:t>a</a:t>
            </a:r>
            <a:r>
              <a:rPr sz="2350" spc="235" dirty="0"/>
              <a:t> </a:t>
            </a:r>
            <a:r>
              <a:rPr sz="2350" dirty="0"/>
              <a:t>trap</a:t>
            </a:r>
            <a:r>
              <a:rPr sz="2350" spc="235" dirty="0"/>
              <a:t> </a:t>
            </a:r>
            <a:r>
              <a:rPr sz="2350" spc="-70" dirty="0"/>
              <a:t>field</a:t>
            </a:r>
            <a:endParaRPr sz="2350"/>
          </a:p>
        </p:txBody>
      </p:sp>
      <p:grpSp>
        <p:nvGrpSpPr>
          <p:cNvPr id="3" name="object 3"/>
          <p:cNvGrpSpPr/>
          <p:nvPr/>
        </p:nvGrpSpPr>
        <p:grpSpPr>
          <a:xfrm>
            <a:off x="319326" y="561926"/>
            <a:ext cx="5116830" cy="2074545"/>
            <a:chOff x="319326" y="561926"/>
            <a:chExt cx="5116830" cy="2074545"/>
          </a:xfrm>
        </p:grpSpPr>
        <p:sp>
          <p:nvSpPr>
            <p:cNvPr id="4" name="object 4"/>
            <p:cNvSpPr/>
            <p:nvPr/>
          </p:nvSpPr>
          <p:spPr>
            <a:xfrm>
              <a:off x="323999" y="567006"/>
              <a:ext cx="5112385" cy="0"/>
            </a:xfrm>
            <a:custGeom>
              <a:avLst/>
              <a:gdLst/>
              <a:ahLst/>
              <a:cxnLst/>
              <a:rect l="l" t="t" r="r" b="b"/>
              <a:pathLst>
                <a:path w="5112385">
                  <a:moveTo>
                    <a:pt x="0" y="0"/>
                  </a:moveTo>
                  <a:lnTo>
                    <a:pt x="5111999" y="0"/>
                  </a:lnTo>
                </a:path>
              </a:pathLst>
            </a:custGeom>
            <a:ln w="10160">
              <a:solidFill>
                <a:srgbClr val="24392B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21078" y="1255491"/>
              <a:ext cx="4229735" cy="0"/>
            </a:xfrm>
            <a:custGeom>
              <a:avLst/>
              <a:gdLst/>
              <a:ahLst/>
              <a:cxnLst/>
              <a:rect l="l" t="t" r="r" b="b"/>
              <a:pathLst>
                <a:path w="4229735">
                  <a:moveTo>
                    <a:pt x="0" y="0"/>
                  </a:moveTo>
                  <a:lnTo>
                    <a:pt x="4229608" y="0"/>
                  </a:lnTo>
                </a:path>
              </a:pathLst>
            </a:custGeom>
            <a:ln w="5842">
              <a:solidFill>
                <a:srgbClr val="C9F5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19326" y="1026192"/>
              <a:ext cx="4233545" cy="0"/>
            </a:xfrm>
            <a:custGeom>
              <a:avLst/>
              <a:gdLst/>
              <a:ahLst/>
              <a:cxnLst/>
              <a:rect l="l" t="t" r="r" b="b"/>
              <a:pathLst>
                <a:path w="4233545">
                  <a:moveTo>
                    <a:pt x="0" y="0"/>
                  </a:moveTo>
                  <a:lnTo>
                    <a:pt x="4233113" y="0"/>
                  </a:lnTo>
                </a:path>
              </a:pathLst>
            </a:custGeom>
            <a:ln w="9347">
              <a:solidFill>
                <a:srgbClr val="C9F5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19326" y="2631282"/>
              <a:ext cx="4233545" cy="0"/>
            </a:xfrm>
            <a:custGeom>
              <a:avLst/>
              <a:gdLst/>
              <a:ahLst/>
              <a:cxnLst/>
              <a:rect l="l" t="t" r="r" b="b"/>
              <a:pathLst>
                <a:path w="4233545">
                  <a:moveTo>
                    <a:pt x="0" y="0"/>
                  </a:moveTo>
                  <a:lnTo>
                    <a:pt x="4233113" y="0"/>
                  </a:lnTo>
                </a:path>
              </a:pathLst>
            </a:custGeom>
            <a:ln w="9347">
              <a:solidFill>
                <a:srgbClr val="C9F5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Then</a:t>
            </a:r>
            <a:r>
              <a:rPr spc="-5" dirty="0"/>
              <a:t> </a:t>
            </a:r>
            <a:r>
              <a:rPr dirty="0"/>
              <a:t>one</a:t>
            </a:r>
            <a:r>
              <a:rPr spc="-5" dirty="0"/>
              <a:t> </a:t>
            </a:r>
            <a:r>
              <a:rPr dirty="0"/>
              <a:t>deploy</a:t>
            </a:r>
            <a:r>
              <a:rPr spc="-5" dirty="0"/>
              <a:t> </a:t>
            </a:r>
            <a:r>
              <a:rPr dirty="0"/>
              <a:t>walks</a:t>
            </a:r>
            <a:r>
              <a:rPr spc="-5" dirty="0"/>
              <a:t> </a:t>
            </a:r>
            <a:r>
              <a:rPr dirty="0"/>
              <a:t>the</a:t>
            </a:r>
            <a:r>
              <a:rPr spc="-5" dirty="0"/>
              <a:t> </a:t>
            </a:r>
            <a:r>
              <a:rPr dirty="0"/>
              <a:t>six</a:t>
            </a:r>
            <a:r>
              <a:rPr spc="-5" dirty="0"/>
              <a:t> </a:t>
            </a:r>
            <a:r>
              <a:rPr dirty="0"/>
              <a:t>steps</a:t>
            </a:r>
            <a:r>
              <a:rPr spc="-5" dirty="0"/>
              <a:t> </a:t>
            </a:r>
            <a:r>
              <a:rPr dirty="0"/>
              <a:t>the</a:t>
            </a:r>
            <a:r>
              <a:rPr spc="-5" dirty="0"/>
              <a:t> </a:t>
            </a:r>
            <a:r>
              <a:rPr dirty="0"/>
              <a:t>README</a:t>
            </a:r>
            <a:r>
              <a:rPr spc="-5" dirty="0"/>
              <a:t> </a:t>
            </a:r>
            <a:r>
              <a:rPr dirty="0"/>
              <a:t>lays</a:t>
            </a:r>
            <a:r>
              <a:rPr spc="-5" dirty="0"/>
              <a:t> </a:t>
            </a:r>
            <a:r>
              <a:rPr spc="-20" dirty="0"/>
              <a:t>out.</a:t>
            </a:r>
          </a:p>
          <a:p>
            <a:pPr marL="82550">
              <a:lnSpc>
                <a:spcPct val="100000"/>
              </a:lnSpc>
              <a:spcBef>
                <a:spcPts val="1230"/>
              </a:spcBef>
              <a:tabLst>
                <a:tab pos="1099185" algn="l"/>
              </a:tabLst>
            </a:pPr>
            <a:r>
              <a:rPr spc="-20" dirty="0">
                <a:solidFill>
                  <a:srgbClr val="C9F5CF"/>
                </a:solidFill>
              </a:rPr>
              <a:t>Step</a:t>
            </a:r>
            <a:r>
              <a:rPr dirty="0">
                <a:solidFill>
                  <a:srgbClr val="C9F5CF"/>
                </a:solidFill>
              </a:rPr>
              <a:t>	What</a:t>
            </a:r>
            <a:r>
              <a:rPr spc="-5" dirty="0">
                <a:solidFill>
                  <a:srgbClr val="C9F5CF"/>
                </a:solidFill>
              </a:rPr>
              <a:t> </a:t>
            </a:r>
            <a:r>
              <a:rPr spc="-10" dirty="0">
                <a:solidFill>
                  <a:srgbClr val="C9F5CF"/>
                </a:solidFill>
              </a:rPr>
              <a:t>happens</a:t>
            </a:r>
          </a:p>
          <a:p>
            <a:pPr marL="82550" marR="758190">
              <a:lnSpc>
                <a:spcPct val="130800"/>
              </a:lnSpc>
              <a:tabLst>
                <a:tab pos="1099185" algn="l"/>
              </a:tabLst>
            </a:pPr>
            <a:r>
              <a:rPr spc="-10" dirty="0">
                <a:solidFill>
                  <a:srgbClr val="C9F5CF"/>
                </a:solidFill>
              </a:rPr>
              <a:t>Discover</a:t>
            </a:r>
            <a:r>
              <a:rPr dirty="0">
                <a:solidFill>
                  <a:srgbClr val="C9F5CF"/>
                </a:solidFill>
              </a:rPr>
              <a:t>	Scan</a:t>
            </a:r>
            <a:r>
              <a:rPr spc="-15" dirty="0">
                <a:solidFill>
                  <a:srgbClr val="C9F5CF"/>
                </a:solidFill>
              </a:rPr>
              <a:t> </a:t>
            </a:r>
            <a:r>
              <a:rPr dirty="0">
                <a:solidFill>
                  <a:srgbClr val="C9F5CF"/>
                </a:solidFill>
              </a:rPr>
              <a:t>the</a:t>
            </a:r>
            <a:r>
              <a:rPr spc="-5" dirty="0">
                <a:solidFill>
                  <a:srgbClr val="C9F5CF"/>
                </a:solidFill>
              </a:rPr>
              <a:t> </a:t>
            </a:r>
            <a:r>
              <a:rPr dirty="0">
                <a:solidFill>
                  <a:srgbClr val="C9F5CF"/>
                </a:solidFill>
              </a:rPr>
              <a:t>directory</a:t>
            </a:r>
            <a:r>
              <a:rPr spc="-5" dirty="0">
                <a:solidFill>
                  <a:srgbClr val="C9F5CF"/>
                </a:solidFill>
              </a:rPr>
              <a:t> </a:t>
            </a:r>
            <a:r>
              <a:rPr dirty="0">
                <a:solidFill>
                  <a:srgbClr val="C9F5CF"/>
                </a:solidFill>
              </a:rPr>
              <a:t>for</a:t>
            </a:r>
            <a:r>
              <a:rPr spc="-5" dirty="0">
                <a:solidFill>
                  <a:srgbClr val="C9F5CF"/>
                </a:solidFill>
              </a:rPr>
              <a:t> </a:t>
            </a:r>
            <a:r>
              <a:rPr dirty="0">
                <a:solidFill>
                  <a:srgbClr val="C9F5CF"/>
                </a:solidFill>
              </a:rPr>
              <a:t>config</a:t>
            </a:r>
            <a:r>
              <a:rPr spc="-5" dirty="0">
                <a:solidFill>
                  <a:srgbClr val="C9F5CF"/>
                </a:solidFill>
              </a:rPr>
              <a:t> </a:t>
            </a:r>
            <a:r>
              <a:rPr spc="-10" dirty="0">
                <a:solidFill>
                  <a:srgbClr val="C9F5CF"/>
                </a:solidFill>
              </a:rPr>
              <a:t>files Analyze</a:t>
            </a:r>
            <a:r>
              <a:rPr dirty="0">
                <a:solidFill>
                  <a:srgbClr val="C9F5CF"/>
                </a:solidFill>
              </a:rPr>
              <a:t>	Find</a:t>
            </a:r>
            <a:r>
              <a:rPr spc="-15" dirty="0">
                <a:solidFill>
                  <a:srgbClr val="C9F5CF"/>
                </a:solidFill>
              </a:rPr>
              <a:t> </a:t>
            </a:r>
            <a:r>
              <a:rPr dirty="0">
                <a:solidFill>
                  <a:srgbClr val="C9F5CF"/>
                </a:solidFill>
              </a:rPr>
              <a:t>candidate</a:t>
            </a:r>
            <a:r>
              <a:rPr spc="-5" dirty="0">
                <a:solidFill>
                  <a:srgbClr val="C9F5CF"/>
                </a:solidFill>
              </a:rPr>
              <a:t> </a:t>
            </a:r>
            <a:r>
              <a:rPr dirty="0">
                <a:solidFill>
                  <a:srgbClr val="C9F5CF"/>
                </a:solidFill>
              </a:rPr>
              <a:t>key</a:t>
            </a:r>
            <a:r>
              <a:rPr spc="-5" dirty="0">
                <a:solidFill>
                  <a:srgbClr val="C9F5CF"/>
                </a:solidFill>
              </a:rPr>
              <a:t> </a:t>
            </a:r>
            <a:r>
              <a:rPr spc="-10" dirty="0">
                <a:solidFill>
                  <a:srgbClr val="C9F5CF"/>
                </a:solidFill>
              </a:rPr>
              <a:t>patterns </a:t>
            </a:r>
            <a:r>
              <a:rPr dirty="0">
                <a:solidFill>
                  <a:srgbClr val="C9F5CF"/>
                </a:solidFill>
              </a:rPr>
              <a:t>Synthesize</a:t>
            </a:r>
            <a:r>
              <a:rPr spc="395" dirty="0">
                <a:solidFill>
                  <a:srgbClr val="C9F5CF"/>
                </a:solidFill>
              </a:rPr>
              <a:t> </a:t>
            </a:r>
            <a:r>
              <a:rPr dirty="0">
                <a:solidFill>
                  <a:srgbClr val="C9F5CF"/>
                </a:solidFill>
              </a:rPr>
              <a:t>Generate</a:t>
            </a:r>
            <a:r>
              <a:rPr spc="-5" dirty="0">
                <a:solidFill>
                  <a:srgbClr val="C9F5CF"/>
                </a:solidFill>
              </a:rPr>
              <a:t> </a:t>
            </a:r>
            <a:r>
              <a:rPr dirty="0">
                <a:solidFill>
                  <a:srgbClr val="C9F5CF"/>
                </a:solidFill>
              </a:rPr>
              <a:t>artificial</a:t>
            </a:r>
            <a:r>
              <a:rPr spc="-5" dirty="0">
                <a:solidFill>
                  <a:srgbClr val="C9F5CF"/>
                </a:solidFill>
              </a:rPr>
              <a:t> </a:t>
            </a:r>
            <a:r>
              <a:rPr spc="-10" dirty="0">
                <a:solidFill>
                  <a:srgbClr val="C9F5CF"/>
                </a:solidFill>
              </a:rPr>
              <a:t>honeytokens Monitor</a:t>
            </a:r>
            <a:r>
              <a:rPr dirty="0">
                <a:solidFill>
                  <a:srgbClr val="C9F5CF"/>
                </a:solidFill>
              </a:rPr>
              <a:t>	Receive</a:t>
            </a:r>
            <a:r>
              <a:rPr spc="-15" dirty="0">
                <a:solidFill>
                  <a:srgbClr val="C9F5CF"/>
                </a:solidFill>
              </a:rPr>
              <a:t> </a:t>
            </a:r>
            <a:r>
              <a:rPr dirty="0">
                <a:solidFill>
                  <a:srgbClr val="C9F5CF"/>
                </a:solidFill>
              </a:rPr>
              <a:t>canary</a:t>
            </a:r>
            <a:r>
              <a:rPr spc="-5" dirty="0">
                <a:solidFill>
                  <a:srgbClr val="C9F5CF"/>
                </a:solidFill>
              </a:rPr>
              <a:t> </a:t>
            </a:r>
            <a:r>
              <a:rPr dirty="0">
                <a:solidFill>
                  <a:srgbClr val="C9F5CF"/>
                </a:solidFill>
              </a:rPr>
              <a:t>webhook</a:t>
            </a:r>
            <a:r>
              <a:rPr spc="-5" dirty="0">
                <a:solidFill>
                  <a:srgbClr val="C9F5CF"/>
                </a:solidFill>
              </a:rPr>
              <a:t> </a:t>
            </a:r>
            <a:r>
              <a:rPr spc="-10" dirty="0">
                <a:solidFill>
                  <a:srgbClr val="C9F5CF"/>
                </a:solidFill>
              </a:rPr>
              <a:t>events Record</a:t>
            </a:r>
            <a:r>
              <a:rPr dirty="0">
                <a:solidFill>
                  <a:srgbClr val="C9F5CF"/>
                </a:solidFill>
              </a:rPr>
              <a:t>	Store</a:t>
            </a:r>
            <a:r>
              <a:rPr spc="-15" dirty="0">
                <a:solidFill>
                  <a:srgbClr val="C9F5CF"/>
                </a:solidFill>
              </a:rPr>
              <a:t> </a:t>
            </a:r>
            <a:r>
              <a:rPr dirty="0">
                <a:solidFill>
                  <a:srgbClr val="C9F5CF"/>
                </a:solidFill>
              </a:rPr>
              <a:t>the</a:t>
            </a:r>
            <a:r>
              <a:rPr spc="-5" dirty="0">
                <a:solidFill>
                  <a:srgbClr val="C9F5CF"/>
                </a:solidFill>
              </a:rPr>
              <a:t> </a:t>
            </a:r>
            <a:r>
              <a:rPr dirty="0">
                <a:solidFill>
                  <a:srgbClr val="C9F5CF"/>
                </a:solidFill>
              </a:rPr>
              <a:t>events</a:t>
            </a:r>
            <a:r>
              <a:rPr spc="-5" dirty="0">
                <a:solidFill>
                  <a:srgbClr val="C9F5CF"/>
                </a:solidFill>
              </a:rPr>
              <a:t> </a:t>
            </a:r>
            <a:r>
              <a:rPr dirty="0">
                <a:solidFill>
                  <a:srgbClr val="C9F5CF"/>
                </a:solidFill>
              </a:rPr>
              <a:t>in</a:t>
            </a:r>
            <a:r>
              <a:rPr spc="-5" dirty="0">
                <a:solidFill>
                  <a:srgbClr val="C9F5CF"/>
                </a:solidFill>
              </a:rPr>
              <a:t> </a:t>
            </a:r>
            <a:r>
              <a:rPr dirty="0">
                <a:solidFill>
                  <a:srgbClr val="C9F5CF"/>
                </a:solidFill>
              </a:rPr>
              <a:t>a</a:t>
            </a:r>
            <a:r>
              <a:rPr spc="-5" dirty="0">
                <a:solidFill>
                  <a:srgbClr val="C9F5CF"/>
                </a:solidFill>
              </a:rPr>
              <a:t> </a:t>
            </a:r>
            <a:r>
              <a:rPr spc="-10" dirty="0">
                <a:solidFill>
                  <a:srgbClr val="C9F5CF"/>
                </a:solidFill>
              </a:rPr>
              <a:t>database Review</a:t>
            </a:r>
            <a:r>
              <a:rPr dirty="0">
                <a:solidFill>
                  <a:srgbClr val="C9F5CF"/>
                </a:solidFill>
              </a:rPr>
              <a:t>	Read</a:t>
            </a:r>
            <a:r>
              <a:rPr spc="-5" dirty="0">
                <a:solidFill>
                  <a:srgbClr val="C9F5CF"/>
                </a:solidFill>
              </a:rPr>
              <a:t> </a:t>
            </a:r>
            <a:r>
              <a:rPr dirty="0">
                <a:solidFill>
                  <a:srgbClr val="C9F5CF"/>
                </a:solidFill>
              </a:rPr>
              <a:t>the</a:t>
            </a:r>
            <a:r>
              <a:rPr spc="-5" dirty="0">
                <a:solidFill>
                  <a:srgbClr val="C9F5CF"/>
                </a:solidFill>
              </a:rPr>
              <a:t> </a:t>
            </a:r>
            <a:r>
              <a:rPr dirty="0">
                <a:solidFill>
                  <a:srgbClr val="C9F5CF"/>
                </a:solidFill>
              </a:rPr>
              <a:t>dashboard</a:t>
            </a:r>
            <a:r>
              <a:rPr spc="-5" dirty="0">
                <a:solidFill>
                  <a:srgbClr val="C9F5CF"/>
                </a:solidFill>
              </a:rPr>
              <a:t> </a:t>
            </a:r>
            <a:r>
              <a:rPr dirty="0">
                <a:solidFill>
                  <a:srgbClr val="C9F5CF"/>
                </a:solidFill>
              </a:rPr>
              <a:t>or</a:t>
            </a:r>
            <a:r>
              <a:rPr spc="-5" dirty="0">
                <a:solidFill>
                  <a:srgbClr val="C9F5CF"/>
                </a:solidFill>
              </a:rPr>
              <a:t> </a:t>
            </a:r>
            <a:r>
              <a:rPr dirty="0">
                <a:solidFill>
                  <a:srgbClr val="C9F5CF"/>
                </a:solidFill>
              </a:rPr>
              <a:t>web</a:t>
            </a:r>
            <a:r>
              <a:rPr spc="-5" dirty="0">
                <a:solidFill>
                  <a:srgbClr val="C9F5CF"/>
                </a:solidFill>
              </a:rPr>
              <a:t> </a:t>
            </a:r>
            <a:r>
              <a:rPr spc="-10" dirty="0">
                <a:solidFill>
                  <a:srgbClr val="C9F5CF"/>
                </a:solidFill>
              </a:rPr>
              <a:t>console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11299" y="2990433"/>
            <a:ext cx="779780" cy="17653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00" spc="-10" dirty="0">
                <a:solidFill>
                  <a:srgbClr val="74A982"/>
                </a:solidFill>
                <a:latin typeface="Courier New"/>
                <a:cs typeface="Courier New"/>
              </a:rPr>
              <a:t>SpectreSync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14"/>
              </a:spcBef>
            </a:pPr>
            <a:fld id="{81D60167-4931-47E6-BA6A-407CBD079E47}" type="slidenum">
              <a:rPr spc="-25" dirty="0"/>
              <a:t>4</a:t>
            </a:fld>
            <a:r>
              <a:rPr spc="-25" dirty="0"/>
              <a:t>/9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5760085" cy="3240405"/>
            <a:chOff x="0" y="0"/>
            <a:chExt cx="5760085" cy="32404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5759999" cy="3239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2365200"/>
              <a:ext cx="5760085" cy="875030"/>
            </a:xfrm>
            <a:custGeom>
              <a:avLst/>
              <a:gdLst/>
              <a:ahLst/>
              <a:cxnLst/>
              <a:rect l="l" t="t" r="r" b="b"/>
              <a:pathLst>
                <a:path w="5760085" h="875030">
                  <a:moveTo>
                    <a:pt x="5759999" y="874800"/>
                  </a:moveTo>
                  <a:lnTo>
                    <a:pt x="0" y="874800"/>
                  </a:lnTo>
                  <a:lnTo>
                    <a:pt x="0" y="0"/>
                  </a:lnTo>
                  <a:lnTo>
                    <a:pt x="5759999" y="0"/>
                  </a:lnTo>
                  <a:lnTo>
                    <a:pt x="5759999" y="874800"/>
                  </a:lnTo>
                  <a:close/>
                </a:path>
              </a:pathLst>
            </a:custGeom>
            <a:solidFill>
              <a:srgbClr val="000000">
                <a:alpha val="6195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311299" y="2249812"/>
            <a:ext cx="468884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290" dirty="0">
                <a:solidFill>
                  <a:srgbClr val="FFFFFF"/>
                </a:solidFill>
                <a:latin typeface="Calibri"/>
                <a:cs typeface="Calibri"/>
              </a:rPr>
              <a:t>190</a:t>
            </a:r>
            <a:r>
              <a:rPr sz="2700" spc="1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spc="-135" dirty="0">
                <a:solidFill>
                  <a:srgbClr val="FFFFFF"/>
                </a:solidFill>
                <a:latin typeface="Calibri"/>
                <a:cs typeface="Calibri"/>
              </a:rPr>
              <a:t>decoys</a:t>
            </a:r>
            <a:r>
              <a:rPr sz="2700" spc="1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spc="-65" dirty="0">
                <a:solidFill>
                  <a:srgbClr val="FFFFFF"/>
                </a:solidFill>
                <a:latin typeface="Calibri"/>
                <a:cs typeface="Calibri"/>
              </a:rPr>
              <a:t>cover</a:t>
            </a:r>
            <a:r>
              <a:rPr sz="2700" spc="1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spc="-3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700" spc="1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spc="-45" dirty="0">
                <a:solidFill>
                  <a:srgbClr val="FFFFFF"/>
                </a:solidFill>
                <a:latin typeface="Calibri"/>
                <a:cs typeface="Calibri"/>
              </a:rPr>
              <a:t>core</a:t>
            </a:r>
            <a:r>
              <a:rPr sz="2700" spc="1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spc="-10" dirty="0">
                <a:solidFill>
                  <a:srgbClr val="FFFFFF"/>
                </a:solidFill>
                <a:latin typeface="Calibri"/>
                <a:cs typeface="Calibri"/>
              </a:rPr>
              <a:t>services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1299" y="2600649"/>
            <a:ext cx="4692650" cy="431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6700"/>
              </a:lnSpc>
              <a:spcBef>
                <a:spcPts val="100"/>
              </a:spcBef>
            </a:pPr>
            <a:r>
              <a:rPr sz="1250" dirty="0">
                <a:solidFill>
                  <a:srgbClr val="D1D1D1"/>
                </a:solidFill>
                <a:latin typeface="Courier New"/>
                <a:cs typeface="Courier New"/>
              </a:rPr>
              <a:t>Blue</a:t>
            </a:r>
            <a:r>
              <a:rPr sz="1250" spc="-5" dirty="0">
                <a:solidFill>
                  <a:srgbClr val="D1D1D1"/>
                </a:solidFill>
                <a:latin typeface="Courier New"/>
                <a:cs typeface="Courier New"/>
              </a:rPr>
              <a:t> </a:t>
            </a:r>
            <a:r>
              <a:rPr sz="1250" dirty="0">
                <a:solidFill>
                  <a:srgbClr val="D1D1D1"/>
                </a:solidFill>
                <a:latin typeface="Courier New"/>
                <a:cs typeface="Courier New"/>
              </a:rPr>
              <a:t>nodes</a:t>
            </a:r>
            <a:r>
              <a:rPr sz="1250" spc="-5" dirty="0">
                <a:solidFill>
                  <a:srgbClr val="D1D1D1"/>
                </a:solidFill>
                <a:latin typeface="Courier New"/>
                <a:cs typeface="Courier New"/>
              </a:rPr>
              <a:t> </a:t>
            </a:r>
            <a:r>
              <a:rPr sz="1250" dirty="0">
                <a:solidFill>
                  <a:srgbClr val="D1D1D1"/>
                </a:solidFill>
                <a:latin typeface="Courier New"/>
                <a:cs typeface="Courier New"/>
              </a:rPr>
              <a:t>are</a:t>
            </a:r>
            <a:r>
              <a:rPr sz="1250" spc="-5" dirty="0">
                <a:solidFill>
                  <a:srgbClr val="D1D1D1"/>
                </a:solidFill>
                <a:latin typeface="Courier New"/>
                <a:cs typeface="Courier New"/>
              </a:rPr>
              <a:t> </a:t>
            </a:r>
            <a:r>
              <a:rPr sz="1250" dirty="0">
                <a:solidFill>
                  <a:srgbClr val="D1D1D1"/>
                </a:solidFill>
                <a:latin typeface="Courier New"/>
                <a:cs typeface="Courier New"/>
              </a:rPr>
              <a:t>core</a:t>
            </a:r>
            <a:r>
              <a:rPr sz="1250" spc="-5" dirty="0">
                <a:solidFill>
                  <a:srgbClr val="D1D1D1"/>
                </a:solidFill>
                <a:latin typeface="Courier New"/>
                <a:cs typeface="Courier New"/>
              </a:rPr>
              <a:t> </a:t>
            </a:r>
            <a:r>
              <a:rPr sz="1250" dirty="0">
                <a:solidFill>
                  <a:srgbClr val="D1D1D1"/>
                </a:solidFill>
                <a:latin typeface="Courier New"/>
                <a:cs typeface="Courier New"/>
              </a:rPr>
              <a:t>assets;</a:t>
            </a:r>
            <a:r>
              <a:rPr sz="1250" spc="-5" dirty="0">
                <a:solidFill>
                  <a:srgbClr val="D1D1D1"/>
                </a:solidFill>
                <a:latin typeface="Courier New"/>
                <a:cs typeface="Courier New"/>
              </a:rPr>
              <a:t> </a:t>
            </a:r>
            <a:r>
              <a:rPr sz="1250" dirty="0">
                <a:solidFill>
                  <a:srgbClr val="D1D1D1"/>
                </a:solidFill>
                <a:latin typeface="Courier New"/>
                <a:cs typeface="Courier New"/>
              </a:rPr>
              <a:t>red</a:t>
            </a:r>
            <a:r>
              <a:rPr sz="1250" spc="-5" dirty="0">
                <a:solidFill>
                  <a:srgbClr val="D1D1D1"/>
                </a:solidFill>
                <a:latin typeface="Courier New"/>
                <a:cs typeface="Courier New"/>
              </a:rPr>
              <a:t> </a:t>
            </a:r>
            <a:r>
              <a:rPr sz="1250" dirty="0">
                <a:solidFill>
                  <a:srgbClr val="D1D1D1"/>
                </a:solidFill>
                <a:latin typeface="Courier New"/>
                <a:cs typeface="Courier New"/>
              </a:rPr>
              <a:t>nodes</a:t>
            </a:r>
            <a:r>
              <a:rPr sz="1250" spc="-5" dirty="0">
                <a:solidFill>
                  <a:srgbClr val="D1D1D1"/>
                </a:solidFill>
                <a:latin typeface="Courier New"/>
                <a:cs typeface="Courier New"/>
              </a:rPr>
              <a:t> </a:t>
            </a:r>
            <a:r>
              <a:rPr sz="1250" dirty="0">
                <a:solidFill>
                  <a:srgbClr val="D1D1D1"/>
                </a:solidFill>
                <a:latin typeface="Courier New"/>
                <a:cs typeface="Courier New"/>
              </a:rPr>
              <a:t>are</a:t>
            </a:r>
            <a:r>
              <a:rPr sz="1250" spc="-5" dirty="0">
                <a:solidFill>
                  <a:srgbClr val="D1D1D1"/>
                </a:solidFill>
                <a:latin typeface="Courier New"/>
                <a:cs typeface="Courier New"/>
              </a:rPr>
              <a:t> </a:t>
            </a:r>
            <a:r>
              <a:rPr sz="1250" spc="-10" dirty="0">
                <a:solidFill>
                  <a:srgbClr val="D1D1D1"/>
                </a:solidFill>
                <a:latin typeface="Courier New"/>
                <a:cs typeface="Courier New"/>
              </a:rPr>
              <a:t>tripped traps.</a:t>
            </a:r>
            <a:r>
              <a:rPr lang="en-IN" sz="1250" spc="-10" dirty="0">
                <a:solidFill>
                  <a:srgbClr val="D1D1D1"/>
                </a:solidFill>
                <a:latin typeface="Courier New"/>
                <a:cs typeface="Courier New"/>
              </a:rPr>
              <a:t> Grey nodes are dormant traps.</a:t>
            </a:r>
            <a:endParaRPr sz="125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5760085" cy="3240405"/>
            <a:chOff x="0" y="0"/>
            <a:chExt cx="5760085" cy="32404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5759999" cy="3239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2365200"/>
              <a:ext cx="5760085" cy="875030"/>
            </a:xfrm>
            <a:custGeom>
              <a:avLst/>
              <a:gdLst/>
              <a:ahLst/>
              <a:cxnLst/>
              <a:rect l="l" t="t" r="r" b="b"/>
              <a:pathLst>
                <a:path w="5760085" h="875030">
                  <a:moveTo>
                    <a:pt x="5759999" y="874800"/>
                  </a:moveTo>
                  <a:lnTo>
                    <a:pt x="0" y="874800"/>
                  </a:lnTo>
                  <a:lnTo>
                    <a:pt x="0" y="0"/>
                  </a:lnTo>
                  <a:lnTo>
                    <a:pt x="5759999" y="0"/>
                  </a:lnTo>
                  <a:lnTo>
                    <a:pt x="5759999" y="874800"/>
                  </a:lnTo>
                  <a:close/>
                </a:path>
              </a:pathLst>
            </a:custGeom>
            <a:solidFill>
              <a:srgbClr val="000000">
                <a:alpha val="6195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311299" y="2249812"/>
            <a:ext cx="468884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65" dirty="0">
                <a:solidFill>
                  <a:srgbClr val="FFFFFF"/>
                </a:solidFill>
                <a:latin typeface="Calibri"/>
                <a:cs typeface="Calibri"/>
              </a:rPr>
              <a:t>Every</a:t>
            </a:r>
            <a:r>
              <a:rPr sz="2700" spc="3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spc="105" dirty="0">
                <a:solidFill>
                  <a:srgbClr val="FFFFFF"/>
                </a:solidFill>
                <a:latin typeface="Calibri"/>
                <a:cs typeface="Calibri"/>
              </a:rPr>
              <a:t>trip</a:t>
            </a:r>
            <a:r>
              <a:rPr sz="2700" spc="3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spc="229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700" spc="3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spc="-90" dirty="0">
                <a:solidFill>
                  <a:srgbClr val="FFFFFF"/>
                </a:solidFill>
                <a:latin typeface="Calibri"/>
                <a:cs typeface="Calibri"/>
              </a:rPr>
              <a:t>scored</a:t>
            </a:r>
            <a:r>
              <a:rPr sz="2700" spc="3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spc="-305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700" spc="3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spc="-75" dirty="0">
                <a:solidFill>
                  <a:srgbClr val="FFFFFF"/>
                </a:solidFill>
                <a:latin typeface="Calibri"/>
                <a:cs typeface="Calibri"/>
              </a:rPr>
              <a:t>mitigated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65339" y="2660346"/>
            <a:ext cx="3422650" cy="156210"/>
          </a:xfrm>
          <a:custGeom>
            <a:avLst/>
            <a:gdLst/>
            <a:ahLst/>
            <a:cxnLst/>
            <a:rect l="l" t="t" r="r" b="b"/>
            <a:pathLst>
              <a:path w="3422650" h="156210">
                <a:moveTo>
                  <a:pt x="1270000" y="25400"/>
                </a:moveTo>
                <a:lnTo>
                  <a:pt x="1268006" y="15506"/>
                </a:lnTo>
                <a:lnTo>
                  <a:pt x="1262570" y="7442"/>
                </a:lnTo>
                <a:lnTo>
                  <a:pt x="1254493" y="1993"/>
                </a:lnTo>
                <a:lnTo>
                  <a:pt x="1244600" y="0"/>
                </a:lnTo>
                <a:lnTo>
                  <a:pt x="25400" y="0"/>
                </a:lnTo>
                <a:lnTo>
                  <a:pt x="15519" y="1993"/>
                </a:lnTo>
                <a:lnTo>
                  <a:pt x="7442" y="7442"/>
                </a:lnTo>
                <a:lnTo>
                  <a:pt x="1993" y="15506"/>
                </a:lnTo>
                <a:lnTo>
                  <a:pt x="0" y="25400"/>
                </a:lnTo>
                <a:lnTo>
                  <a:pt x="0" y="130810"/>
                </a:lnTo>
                <a:lnTo>
                  <a:pt x="1993" y="140690"/>
                </a:lnTo>
                <a:lnTo>
                  <a:pt x="7442" y="148767"/>
                </a:lnTo>
                <a:lnTo>
                  <a:pt x="15519" y="154216"/>
                </a:lnTo>
                <a:lnTo>
                  <a:pt x="25400" y="156210"/>
                </a:lnTo>
                <a:lnTo>
                  <a:pt x="1244600" y="156210"/>
                </a:lnTo>
                <a:lnTo>
                  <a:pt x="1254493" y="154216"/>
                </a:lnTo>
                <a:lnTo>
                  <a:pt x="1262570" y="148767"/>
                </a:lnTo>
                <a:lnTo>
                  <a:pt x="1268006" y="140690"/>
                </a:lnTo>
                <a:lnTo>
                  <a:pt x="1270000" y="130810"/>
                </a:lnTo>
                <a:lnTo>
                  <a:pt x="1270000" y="25400"/>
                </a:lnTo>
                <a:close/>
              </a:path>
              <a:path w="3422650" h="156210">
                <a:moveTo>
                  <a:pt x="3422650" y="25400"/>
                </a:moveTo>
                <a:lnTo>
                  <a:pt x="3420656" y="15506"/>
                </a:lnTo>
                <a:lnTo>
                  <a:pt x="3415220" y="7442"/>
                </a:lnTo>
                <a:lnTo>
                  <a:pt x="3407143" y="1993"/>
                </a:lnTo>
                <a:lnTo>
                  <a:pt x="3397250" y="0"/>
                </a:lnTo>
                <a:lnTo>
                  <a:pt x="2101850" y="0"/>
                </a:lnTo>
                <a:lnTo>
                  <a:pt x="2091969" y="1993"/>
                </a:lnTo>
                <a:lnTo>
                  <a:pt x="2083892" y="7442"/>
                </a:lnTo>
                <a:lnTo>
                  <a:pt x="2078443" y="15506"/>
                </a:lnTo>
                <a:lnTo>
                  <a:pt x="2076450" y="25400"/>
                </a:lnTo>
                <a:lnTo>
                  <a:pt x="2076450" y="130810"/>
                </a:lnTo>
                <a:lnTo>
                  <a:pt x="2078443" y="140690"/>
                </a:lnTo>
                <a:lnTo>
                  <a:pt x="2083892" y="148767"/>
                </a:lnTo>
                <a:lnTo>
                  <a:pt x="2091969" y="154216"/>
                </a:lnTo>
                <a:lnTo>
                  <a:pt x="2101850" y="156210"/>
                </a:lnTo>
                <a:lnTo>
                  <a:pt x="3397250" y="156210"/>
                </a:lnTo>
                <a:lnTo>
                  <a:pt x="3407143" y="154216"/>
                </a:lnTo>
                <a:lnTo>
                  <a:pt x="3415220" y="148767"/>
                </a:lnTo>
                <a:lnTo>
                  <a:pt x="3420656" y="140690"/>
                </a:lnTo>
                <a:lnTo>
                  <a:pt x="3422650" y="130810"/>
                </a:lnTo>
                <a:lnTo>
                  <a:pt x="3422650" y="25400"/>
                </a:lnTo>
                <a:close/>
              </a:path>
            </a:pathLst>
          </a:custGeom>
          <a:solidFill>
            <a:srgbClr val="1626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11299" y="2600649"/>
            <a:ext cx="4635500" cy="431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6700"/>
              </a:lnSpc>
              <a:spcBef>
                <a:spcPts val="100"/>
              </a:spcBef>
            </a:pPr>
            <a:r>
              <a:rPr sz="1250" dirty="0">
                <a:solidFill>
                  <a:srgbClr val="D1D1D1"/>
                </a:solidFill>
                <a:latin typeface="Courier New"/>
                <a:cs typeface="Courier New"/>
              </a:rPr>
              <a:t>82%</a:t>
            </a:r>
            <a:r>
              <a:rPr sz="1250" spc="-5" dirty="0">
                <a:solidFill>
                  <a:srgbClr val="D1D1D1"/>
                </a:solidFill>
                <a:latin typeface="Courier New"/>
                <a:cs typeface="Courier New"/>
              </a:rPr>
              <a:t> </a:t>
            </a:r>
            <a:r>
              <a:rPr sz="1250" dirty="0">
                <a:solidFill>
                  <a:srgbClr val="D1D1D1"/>
                </a:solidFill>
                <a:latin typeface="Courier New"/>
                <a:cs typeface="Courier New"/>
              </a:rPr>
              <a:t>on</a:t>
            </a:r>
            <a:r>
              <a:rPr sz="1250" spc="-5" dirty="0">
                <a:solidFill>
                  <a:srgbClr val="D1D1D1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1D1D1"/>
                </a:solidFill>
                <a:latin typeface="Courier New"/>
                <a:cs typeface="Courier New"/>
              </a:rPr>
              <a:t>/.env.production</a:t>
            </a:r>
            <a:r>
              <a:rPr sz="1250" dirty="0">
                <a:solidFill>
                  <a:srgbClr val="D1D1D1"/>
                </a:solidFill>
                <a:latin typeface="Courier New"/>
                <a:cs typeface="Courier New"/>
              </a:rPr>
              <a:t>,</a:t>
            </a:r>
            <a:r>
              <a:rPr sz="1250" spc="-5" dirty="0">
                <a:solidFill>
                  <a:srgbClr val="D1D1D1"/>
                </a:solidFill>
                <a:latin typeface="Courier New"/>
                <a:cs typeface="Courier New"/>
              </a:rPr>
              <a:t> </a:t>
            </a:r>
            <a:r>
              <a:rPr sz="1250" dirty="0">
                <a:solidFill>
                  <a:srgbClr val="D1D1D1"/>
                </a:solidFill>
                <a:latin typeface="Courier New"/>
                <a:cs typeface="Courier New"/>
              </a:rPr>
              <a:t>81%</a:t>
            </a:r>
            <a:r>
              <a:rPr sz="1250" spc="-5" dirty="0">
                <a:solidFill>
                  <a:srgbClr val="D1D1D1"/>
                </a:solidFill>
                <a:latin typeface="Courier New"/>
                <a:cs typeface="Courier New"/>
              </a:rPr>
              <a:t> </a:t>
            </a:r>
            <a:r>
              <a:rPr sz="1250" dirty="0">
                <a:solidFill>
                  <a:srgbClr val="D1D1D1"/>
                </a:solidFill>
                <a:latin typeface="Courier New"/>
                <a:cs typeface="Courier New"/>
              </a:rPr>
              <a:t>on</a:t>
            </a:r>
            <a:r>
              <a:rPr sz="1250" spc="-5" dirty="0">
                <a:solidFill>
                  <a:srgbClr val="D1D1D1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1D1D1"/>
                </a:solidFill>
                <a:latin typeface="Courier New"/>
                <a:cs typeface="Courier New"/>
              </a:rPr>
              <a:t>/admin/config.php</a:t>
            </a:r>
            <a:r>
              <a:rPr sz="1250" dirty="0">
                <a:solidFill>
                  <a:srgbClr val="D1D1D1"/>
                </a:solidFill>
                <a:latin typeface="Courier New"/>
                <a:cs typeface="Courier New"/>
              </a:rPr>
              <a:t>,</a:t>
            </a:r>
            <a:r>
              <a:rPr sz="1250" spc="-5" dirty="0">
                <a:solidFill>
                  <a:srgbClr val="D1D1D1"/>
                </a:solidFill>
                <a:latin typeface="Courier New"/>
                <a:cs typeface="Courier New"/>
              </a:rPr>
              <a:t> </a:t>
            </a:r>
            <a:r>
              <a:rPr sz="1250" spc="-20" dirty="0">
                <a:solidFill>
                  <a:srgbClr val="D1D1D1"/>
                </a:solidFill>
                <a:latin typeface="Courier New"/>
                <a:cs typeface="Courier New"/>
              </a:rPr>
              <a:t>both </a:t>
            </a:r>
            <a:r>
              <a:rPr sz="1250" dirty="0">
                <a:solidFill>
                  <a:srgbClr val="D1D1D1"/>
                </a:solidFill>
                <a:latin typeface="Courier New"/>
                <a:cs typeface="Courier New"/>
              </a:rPr>
              <a:t>Auto-</a:t>
            </a:r>
            <a:r>
              <a:rPr sz="1250" spc="-10" dirty="0">
                <a:solidFill>
                  <a:srgbClr val="D1D1D1"/>
                </a:solidFill>
                <a:latin typeface="Courier New"/>
                <a:cs typeface="Courier New"/>
              </a:rPr>
              <a:t>Mitigated.</a:t>
            </a:r>
            <a:endParaRPr sz="12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9" y="3239999"/>
                </a:moveTo>
                <a:lnTo>
                  <a:pt x="0" y="3239999"/>
                </a:lnTo>
                <a:lnTo>
                  <a:pt x="0" y="0"/>
                </a:lnTo>
                <a:lnTo>
                  <a:pt x="5759999" y="0"/>
                </a:lnTo>
                <a:lnTo>
                  <a:pt x="5759999" y="3239999"/>
                </a:lnTo>
                <a:close/>
              </a:path>
            </a:pathLst>
          </a:custGeom>
          <a:solidFill>
            <a:srgbClr val="0A110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4444" y="10795"/>
            <a:ext cx="5768975" cy="3209290"/>
            <a:chOff x="-4444" y="10795"/>
            <a:chExt cx="5768975" cy="3209290"/>
          </a:xfrm>
        </p:grpSpPr>
        <p:sp>
          <p:nvSpPr>
            <p:cNvPr id="4" name="object 4"/>
            <p:cNvSpPr/>
            <p:nvPr/>
          </p:nvSpPr>
          <p:spPr>
            <a:xfrm>
              <a:off x="0" y="15240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45720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76200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10667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137160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167640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198120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228600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25907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289560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0" y="320040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0" y="350520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0" y="381000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0" y="41147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0" y="441960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0" y="472440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0" y="502920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0" y="533400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0" y="56387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0" y="594360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0" y="624840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0" y="655320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0" y="685800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0" y="71627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0" y="746760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0" y="777240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0" y="807720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0" y="838200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0" y="86867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0" y="89915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0" y="929640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0" y="960120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0" y="990600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0" y="102107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0" y="105155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0" y="1082040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0" y="1112520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0" y="1143000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0" y="117347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0" y="120395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0" y="1234440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0" y="1264920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0" y="1295400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0" y="1325879"/>
              <a:ext cx="5760085" cy="304800"/>
            </a:xfrm>
            <a:custGeom>
              <a:avLst/>
              <a:gdLst/>
              <a:ahLst/>
              <a:cxnLst/>
              <a:rect l="l" t="t" r="r" b="b"/>
              <a:pathLst>
                <a:path w="5760085" h="304800">
                  <a:moveTo>
                    <a:pt x="0" y="0"/>
                  </a:moveTo>
                  <a:lnTo>
                    <a:pt x="323999" y="0"/>
                  </a:lnTo>
                </a:path>
                <a:path w="5760085" h="304800">
                  <a:moveTo>
                    <a:pt x="1160928" y="0"/>
                  </a:moveTo>
                  <a:lnTo>
                    <a:pt x="1392767" y="0"/>
                  </a:lnTo>
                </a:path>
                <a:path w="5760085" h="304800">
                  <a:moveTo>
                    <a:pt x="2229695" y="0"/>
                  </a:moveTo>
                  <a:lnTo>
                    <a:pt x="2461535" y="0"/>
                  </a:lnTo>
                </a:path>
                <a:path w="5760085" h="304800">
                  <a:moveTo>
                    <a:pt x="3298463" y="0"/>
                  </a:moveTo>
                  <a:lnTo>
                    <a:pt x="3530303" y="0"/>
                  </a:lnTo>
                </a:path>
                <a:path w="5760085" h="304800">
                  <a:moveTo>
                    <a:pt x="4367231" y="0"/>
                  </a:moveTo>
                  <a:lnTo>
                    <a:pt x="4599071" y="0"/>
                  </a:lnTo>
                </a:path>
                <a:path w="5760085" h="304800">
                  <a:moveTo>
                    <a:pt x="5435999" y="0"/>
                  </a:moveTo>
                  <a:lnTo>
                    <a:pt x="5759999" y="0"/>
                  </a:lnTo>
                </a:path>
                <a:path w="5760085" h="304800">
                  <a:moveTo>
                    <a:pt x="0" y="30480"/>
                  </a:moveTo>
                  <a:lnTo>
                    <a:pt x="323999" y="30480"/>
                  </a:lnTo>
                </a:path>
                <a:path w="5760085" h="304800">
                  <a:moveTo>
                    <a:pt x="1160928" y="30480"/>
                  </a:moveTo>
                  <a:lnTo>
                    <a:pt x="1392767" y="30480"/>
                  </a:lnTo>
                </a:path>
                <a:path w="5760085" h="304800">
                  <a:moveTo>
                    <a:pt x="2229695" y="30480"/>
                  </a:moveTo>
                  <a:lnTo>
                    <a:pt x="2461535" y="30480"/>
                  </a:lnTo>
                </a:path>
                <a:path w="5760085" h="304800">
                  <a:moveTo>
                    <a:pt x="3298463" y="30480"/>
                  </a:moveTo>
                  <a:lnTo>
                    <a:pt x="3530303" y="30480"/>
                  </a:lnTo>
                </a:path>
                <a:path w="5760085" h="304800">
                  <a:moveTo>
                    <a:pt x="4367231" y="30480"/>
                  </a:moveTo>
                  <a:lnTo>
                    <a:pt x="4599071" y="30480"/>
                  </a:lnTo>
                </a:path>
                <a:path w="5760085" h="304800">
                  <a:moveTo>
                    <a:pt x="5435999" y="30480"/>
                  </a:moveTo>
                  <a:lnTo>
                    <a:pt x="5759999" y="30480"/>
                  </a:lnTo>
                </a:path>
                <a:path w="5760085" h="304800">
                  <a:moveTo>
                    <a:pt x="0" y="60960"/>
                  </a:moveTo>
                  <a:lnTo>
                    <a:pt x="323999" y="60960"/>
                  </a:lnTo>
                </a:path>
                <a:path w="5760085" h="304800">
                  <a:moveTo>
                    <a:pt x="1160928" y="60960"/>
                  </a:moveTo>
                  <a:lnTo>
                    <a:pt x="1392767" y="60960"/>
                  </a:lnTo>
                </a:path>
                <a:path w="5760085" h="304800">
                  <a:moveTo>
                    <a:pt x="2229695" y="60960"/>
                  </a:moveTo>
                  <a:lnTo>
                    <a:pt x="2461535" y="60960"/>
                  </a:lnTo>
                </a:path>
                <a:path w="5760085" h="304800">
                  <a:moveTo>
                    <a:pt x="3298463" y="60960"/>
                  </a:moveTo>
                  <a:lnTo>
                    <a:pt x="3530303" y="60960"/>
                  </a:lnTo>
                </a:path>
                <a:path w="5760085" h="304800">
                  <a:moveTo>
                    <a:pt x="4367231" y="60960"/>
                  </a:moveTo>
                  <a:lnTo>
                    <a:pt x="4599071" y="60960"/>
                  </a:lnTo>
                </a:path>
                <a:path w="5760085" h="304800">
                  <a:moveTo>
                    <a:pt x="5435999" y="60960"/>
                  </a:moveTo>
                  <a:lnTo>
                    <a:pt x="5759999" y="60960"/>
                  </a:lnTo>
                </a:path>
                <a:path w="5760085" h="304800">
                  <a:moveTo>
                    <a:pt x="0" y="91440"/>
                  </a:moveTo>
                  <a:lnTo>
                    <a:pt x="323999" y="91440"/>
                  </a:lnTo>
                </a:path>
                <a:path w="5760085" h="304800">
                  <a:moveTo>
                    <a:pt x="1160928" y="91440"/>
                  </a:moveTo>
                  <a:lnTo>
                    <a:pt x="1392767" y="91440"/>
                  </a:lnTo>
                </a:path>
                <a:path w="5760085" h="304800">
                  <a:moveTo>
                    <a:pt x="2229695" y="91440"/>
                  </a:moveTo>
                  <a:lnTo>
                    <a:pt x="2461535" y="91440"/>
                  </a:lnTo>
                </a:path>
                <a:path w="5760085" h="304800">
                  <a:moveTo>
                    <a:pt x="3298463" y="91440"/>
                  </a:moveTo>
                  <a:lnTo>
                    <a:pt x="3530303" y="91440"/>
                  </a:lnTo>
                </a:path>
                <a:path w="5760085" h="304800">
                  <a:moveTo>
                    <a:pt x="4367231" y="91440"/>
                  </a:moveTo>
                  <a:lnTo>
                    <a:pt x="4599071" y="91440"/>
                  </a:lnTo>
                </a:path>
                <a:path w="5760085" h="304800">
                  <a:moveTo>
                    <a:pt x="5435999" y="91440"/>
                  </a:moveTo>
                  <a:lnTo>
                    <a:pt x="5759999" y="91440"/>
                  </a:lnTo>
                </a:path>
                <a:path w="5760085" h="304800">
                  <a:moveTo>
                    <a:pt x="0" y="121920"/>
                  </a:moveTo>
                  <a:lnTo>
                    <a:pt x="323999" y="121920"/>
                  </a:lnTo>
                </a:path>
                <a:path w="5760085" h="304800">
                  <a:moveTo>
                    <a:pt x="1160928" y="121920"/>
                  </a:moveTo>
                  <a:lnTo>
                    <a:pt x="1392767" y="121920"/>
                  </a:lnTo>
                </a:path>
                <a:path w="5760085" h="304800">
                  <a:moveTo>
                    <a:pt x="2229695" y="121920"/>
                  </a:moveTo>
                  <a:lnTo>
                    <a:pt x="2461535" y="121920"/>
                  </a:lnTo>
                </a:path>
                <a:path w="5760085" h="304800">
                  <a:moveTo>
                    <a:pt x="3298463" y="121920"/>
                  </a:moveTo>
                  <a:lnTo>
                    <a:pt x="3530303" y="121920"/>
                  </a:lnTo>
                </a:path>
                <a:path w="5760085" h="304800">
                  <a:moveTo>
                    <a:pt x="4367231" y="121920"/>
                  </a:moveTo>
                  <a:lnTo>
                    <a:pt x="4599071" y="121920"/>
                  </a:lnTo>
                </a:path>
                <a:path w="5760085" h="304800">
                  <a:moveTo>
                    <a:pt x="5435999" y="121920"/>
                  </a:moveTo>
                  <a:lnTo>
                    <a:pt x="5759999" y="121920"/>
                  </a:lnTo>
                </a:path>
                <a:path w="5760085" h="304800">
                  <a:moveTo>
                    <a:pt x="0" y="152400"/>
                  </a:moveTo>
                  <a:lnTo>
                    <a:pt x="323999" y="152400"/>
                  </a:lnTo>
                </a:path>
                <a:path w="5760085" h="304800">
                  <a:moveTo>
                    <a:pt x="1160928" y="152400"/>
                  </a:moveTo>
                  <a:lnTo>
                    <a:pt x="1392767" y="152400"/>
                  </a:lnTo>
                </a:path>
                <a:path w="5760085" h="304800">
                  <a:moveTo>
                    <a:pt x="2229695" y="152400"/>
                  </a:moveTo>
                  <a:lnTo>
                    <a:pt x="2461535" y="152400"/>
                  </a:lnTo>
                </a:path>
                <a:path w="5760085" h="304800">
                  <a:moveTo>
                    <a:pt x="3298463" y="152400"/>
                  </a:moveTo>
                  <a:lnTo>
                    <a:pt x="3530303" y="152400"/>
                  </a:lnTo>
                </a:path>
                <a:path w="5760085" h="304800">
                  <a:moveTo>
                    <a:pt x="4367231" y="152400"/>
                  </a:moveTo>
                  <a:lnTo>
                    <a:pt x="4599071" y="152400"/>
                  </a:lnTo>
                </a:path>
                <a:path w="5760085" h="304800">
                  <a:moveTo>
                    <a:pt x="5435999" y="152400"/>
                  </a:moveTo>
                  <a:lnTo>
                    <a:pt x="5759999" y="152400"/>
                  </a:lnTo>
                </a:path>
                <a:path w="5760085" h="304800">
                  <a:moveTo>
                    <a:pt x="0" y="182880"/>
                  </a:moveTo>
                  <a:lnTo>
                    <a:pt x="323999" y="182880"/>
                  </a:lnTo>
                </a:path>
                <a:path w="5760085" h="304800">
                  <a:moveTo>
                    <a:pt x="1160928" y="182880"/>
                  </a:moveTo>
                  <a:lnTo>
                    <a:pt x="1392767" y="182880"/>
                  </a:lnTo>
                </a:path>
                <a:path w="5760085" h="304800">
                  <a:moveTo>
                    <a:pt x="2229695" y="182880"/>
                  </a:moveTo>
                  <a:lnTo>
                    <a:pt x="2461535" y="182880"/>
                  </a:lnTo>
                </a:path>
                <a:path w="5760085" h="304800">
                  <a:moveTo>
                    <a:pt x="3298463" y="182880"/>
                  </a:moveTo>
                  <a:lnTo>
                    <a:pt x="3530303" y="182880"/>
                  </a:lnTo>
                </a:path>
                <a:path w="5760085" h="304800">
                  <a:moveTo>
                    <a:pt x="4367231" y="182880"/>
                  </a:moveTo>
                  <a:lnTo>
                    <a:pt x="4599071" y="182880"/>
                  </a:lnTo>
                </a:path>
                <a:path w="5760085" h="304800">
                  <a:moveTo>
                    <a:pt x="5435999" y="182880"/>
                  </a:moveTo>
                  <a:lnTo>
                    <a:pt x="5759999" y="182880"/>
                  </a:lnTo>
                </a:path>
                <a:path w="5760085" h="304800">
                  <a:moveTo>
                    <a:pt x="0" y="213360"/>
                  </a:moveTo>
                  <a:lnTo>
                    <a:pt x="323999" y="213360"/>
                  </a:lnTo>
                </a:path>
                <a:path w="5760085" h="304800">
                  <a:moveTo>
                    <a:pt x="1160928" y="213360"/>
                  </a:moveTo>
                  <a:lnTo>
                    <a:pt x="1392767" y="213360"/>
                  </a:lnTo>
                </a:path>
                <a:path w="5760085" h="304800">
                  <a:moveTo>
                    <a:pt x="2229695" y="213360"/>
                  </a:moveTo>
                  <a:lnTo>
                    <a:pt x="2461535" y="213360"/>
                  </a:lnTo>
                </a:path>
                <a:path w="5760085" h="304800">
                  <a:moveTo>
                    <a:pt x="3298463" y="213360"/>
                  </a:moveTo>
                  <a:lnTo>
                    <a:pt x="3530303" y="213360"/>
                  </a:lnTo>
                </a:path>
                <a:path w="5760085" h="304800">
                  <a:moveTo>
                    <a:pt x="4367231" y="213360"/>
                  </a:moveTo>
                  <a:lnTo>
                    <a:pt x="4599071" y="213360"/>
                  </a:lnTo>
                </a:path>
                <a:path w="5760085" h="304800">
                  <a:moveTo>
                    <a:pt x="5435999" y="213360"/>
                  </a:moveTo>
                  <a:lnTo>
                    <a:pt x="5759999" y="213360"/>
                  </a:lnTo>
                </a:path>
                <a:path w="5760085" h="304800">
                  <a:moveTo>
                    <a:pt x="0" y="243840"/>
                  </a:moveTo>
                  <a:lnTo>
                    <a:pt x="323999" y="243840"/>
                  </a:lnTo>
                </a:path>
                <a:path w="5760085" h="304800">
                  <a:moveTo>
                    <a:pt x="1160928" y="243840"/>
                  </a:moveTo>
                  <a:lnTo>
                    <a:pt x="1392767" y="243840"/>
                  </a:lnTo>
                </a:path>
                <a:path w="5760085" h="304800">
                  <a:moveTo>
                    <a:pt x="2229695" y="243840"/>
                  </a:moveTo>
                  <a:lnTo>
                    <a:pt x="2461535" y="243840"/>
                  </a:lnTo>
                </a:path>
                <a:path w="5760085" h="304800">
                  <a:moveTo>
                    <a:pt x="3298463" y="243840"/>
                  </a:moveTo>
                  <a:lnTo>
                    <a:pt x="3530303" y="243840"/>
                  </a:lnTo>
                </a:path>
                <a:path w="5760085" h="304800">
                  <a:moveTo>
                    <a:pt x="4367231" y="243840"/>
                  </a:moveTo>
                  <a:lnTo>
                    <a:pt x="4599071" y="243840"/>
                  </a:lnTo>
                </a:path>
                <a:path w="5760085" h="304800">
                  <a:moveTo>
                    <a:pt x="5435999" y="243840"/>
                  </a:moveTo>
                  <a:lnTo>
                    <a:pt x="5759999" y="243840"/>
                  </a:lnTo>
                </a:path>
                <a:path w="5760085" h="304800">
                  <a:moveTo>
                    <a:pt x="0" y="274320"/>
                  </a:moveTo>
                  <a:lnTo>
                    <a:pt x="323999" y="274320"/>
                  </a:lnTo>
                </a:path>
                <a:path w="5760085" h="304800">
                  <a:moveTo>
                    <a:pt x="1160928" y="274320"/>
                  </a:moveTo>
                  <a:lnTo>
                    <a:pt x="1392767" y="274320"/>
                  </a:lnTo>
                </a:path>
                <a:path w="5760085" h="304800">
                  <a:moveTo>
                    <a:pt x="2229695" y="274320"/>
                  </a:moveTo>
                  <a:lnTo>
                    <a:pt x="2461535" y="274320"/>
                  </a:lnTo>
                </a:path>
                <a:path w="5760085" h="304800">
                  <a:moveTo>
                    <a:pt x="3298463" y="274320"/>
                  </a:moveTo>
                  <a:lnTo>
                    <a:pt x="3530303" y="274320"/>
                  </a:lnTo>
                </a:path>
                <a:path w="5760085" h="304800">
                  <a:moveTo>
                    <a:pt x="4367231" y="274320"/>
                  </a:moveTo>
                  <a:lnTo>
                    <a:pt x="4599071" y="274320"/>
                  </a:lnTo>
                </a:path>
                <a:path w="5760085" h="304800">
                  <a:moveTo>
                    <a:pt x="5435999" y="274320"/>
                  </a:moveTo>
                  <a:lnTo>
                    <a:pt x="5759999" y="274320"/>
                  </a:lnTo>
                </a:path>
                <a:path w="5760085" h="304800">
                  <a:moveTo>
                    <a:pt x="0" y="304800"/>
                  </a:moveTo>
                  <a:lnTo>
                    <a:pt x="323999" y="304800"/>
                  </a:lnTo>
                </a:path>
                <a:path w="5760085" h="304800">
                  <a:moveTo>
                    <a:pt x="1160928" y="304800"/>
                  </a:moveTo>
                  <a:lnTo>
                    <a:pt x="1392767" y="304800"/>
                  </a:lnTo>
                </a:path>
                <a:path w="5760085" h="304800">
                  <a:moveTo>
                    <a:pt x="2229695" y="304800"/>
                  </a:moveTo>
                  <a:lnTo>
                    <a:pt x="2461535" y="304800"/>
                  </a:lnTo>
                </a:path>
                <a:path w="5760085" h="304800">
                  <a:moveTo>
                    <a:pt x="3298463" y="304800"/>
                  </a:moveTo>
                  <a:lnTo>
                    <a:pt x="3530303" y="304800"/>
                  </a:lnTo>
                </a:path>
                <a:path w="5760085" h="304800">
                  <a:moveTo>
                    <a:pt x="4367231" y="304800"/>
                  </a:moveTo>
                  <a:lnTo>
                    <a:pt x="4599071" y="304800"/>
                  </a:lnTo>
                </a:path>
                <a:path w="5760085" h="304800">
                  <a:moveTo>
                    <a:pt x="5435999" y="304800"/>
                  </a:moveTo>
                  <a:lnTo>
                    <a:pt x="5759999" y="304800"/>
                  </a:lnTo>
                </a:path>
              </a:pathLst>
            </a:custGeom>
            <a:ln w="8889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0" y="166115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0" y="169163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0" y="1722120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0" y="175259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0" y="178307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0" y="181355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0" y="184403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0" y="1874520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0" y="190499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0" y="193547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0" y="196595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0" y="199643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0" y="2026920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0" y="205739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0" y="208787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0" y="211835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0" y="214883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0" y="2179320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0" y="220979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0" y="224027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0" y="227075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0" y="230123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0" y="2331720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0" y="236219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0" y="239267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0" y="242315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0" y="245363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0" y="2484120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0" y="251459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0" y="254507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0" y="257555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0" y="260603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0" y="2636520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0" y="266699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0" y="269747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0" y="272795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0" y="275843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0" y="2788920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0" y="281939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0" y="284987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0" y="288035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0" y="291083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0" y="2941320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0" y="297179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0" y="300227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0" y="303275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0" y="306323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0" y="3093720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0" y="312419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0" y="315467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0" y="318515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0" y="321563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9" y="0"/>
                  </a:lnTo>
                </a:path>
              </a:pathLst>
            </a:custGeom>
            <a:ln w="8890">
              <a:solidFill>
                <a:srgbClr val="0E18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79199" y="79200"/>
              <a:ext cx="5601970" cy="3081655"/>
            </a:xfrm>
            <a:custGeom>
              <a:avLst/>
              <a:gdLst/>
              <a:ahLst/>
              <a:cxnLst/>
              <a:rect l="l" t="t" r="r" b="b"/>
              <a:pathLst>
                <a:path w="5601970" h="3081655">
                  <a:moveTo>
                    <a:pt x="27305" y="0"/>
                  </a:moveTo>
                  <a:lnTo>
                    <a:pt x="5574295" y="0"/>
                  </a:lnTo>
                  <a:lnTo>
                    <a:pt x="5584923" y="2145"/>
                  </a:lnTo>
                  <a:lnTo>
                    <a:pt x="5593602" y="7997"/>
                  </a:lnTo>
                  <a:lnTo>
                    <a:pt x="5599454" y="16676"/>
                  </a:lnTo>
                  <a:lnTo>
                    <a:pt x="5601599" y="27305"/>
                  </a:lnTo>
                  <a:lnTo>
                    <a:pt x="5601599" y="3054295"/>
                  </a:lnTo>
                  <a:lnTo>
                    <a:pt x="5599454" y="3064923"/>
                  </a:lnTo>
                  <a:lnTo>
                    <a:pt x="5593602" y="3073602"/>
                  </a:lnTo>
                  <a:lnTo>
                    <a:pt x="5584923" y="3079454"/>
                  </a:lnTo>
                  <a:lnTo>
                    <a:pt x="5574295" y="3081600"/>
                  </a:lnTo>
                  <a:lnTo>
                    <a:pt x="27305" y="3081600"/>
                  </a:lnTo>
                  <a:lnTo>
                    <a:pt x="16676" y="3079454"/>
                  </a:lnTo>
                  <a:lnTo>
                    <a:pt x="7997" y="3073602"/>
                  </a:lnTo>
                  <a:lnTo>
                    <a:pt x="2145" y="3064923"/>
                  </a:lnTo>
                  <a:lnTo>
                    <a:pt x="0" y="3054295"/>
                  </a:lnTo>
                  <a:lnTo>
                    <a:pt x="0" y="27305"/>
                  </a:lnTo>
                  <a:lnTo>
                    <a:pt x="2145" y="16676"/>
                  </a:lnTo>
                  <a:lnTo>
                    <a:pt x="7997" y="7997"/>
                  </a:lnTo>
                  <a:lnTo>
                    <a:pt x="16676" y="2145"/>
                  </a:lnTo>
                  <a:lnTo>
                    <a:pt x="27305" y="0"/>
                  </a:lnTo>
                </a:path>
              </a:pathLst>
            </a:custGeom>
            <a:ln w="8890">
              <a:solidFill>
                <a:srgbClr val="2439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1" name="object 101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90" dirty="0">
                <a:solidFill>
                  <a:srgbClr val="4BF07A"/>
                </a:solidFill>
              </a:rPr>
              <a:t>$</a:t>
            </a:r>
            <a:r>
              <a:rPr spc="330" dirty="0">
                <a:solidFill>
                  <a:srgbClr val="4BF07A"/>
                </a:solidFill>
              </a:rPr>
              <a:t> </a:t>
            </a:r>
            <a:r>
              <a:rPr dirty="0"/>
              <a:t>High-risk</a:t>
            </a:r>
            <a:r>
              <a:rPr spc="335" dirty="0"/>
              <a:t> </a:t>
            </a:r>
            <a:r>
              <a:rPr spc="-70" dirty="0"/>
              <a:t>fixes</a:t>
            </a:r>
            <a:r>
              <a:rPr spc="330" dirty="0"/>
              <a:t> </a:t>
            </a:r>
            <a:r>
              <a:rPr spc="-20" dirty="0"/>
              <a:t>wait</a:t>
            </a:r>
            <a:r>
              <a:rPr spc="335" dirty="0"/>
              <a:t> </a:t>
            </a:r>
            <a:r>
              <a:rPr dirty="0"/>
              <a:t>for</a:t>
            </a:r>
            <a:r>
              <a:rPr spc="330" dirty="0"/>
              <a:t> </a:t>
            </a:r>
            <a:r>
              <a:rPr spc="-110" dirty="0"/>
              <a:t>approval</a:t>
            </a:r>
          </a:p>
        </p:txBody>
      </p:sp>
      <p:grpSp>
        <p:nvGrpSpPr>
          <p:cNvPr id="102" name="object 102"/>
          <p:cNvGrpSpPr/>
          <p:nvPr/>
        </p:nvGrpSpPr>
        <p:grpSpPr>
          <a:xfrm>
            <a:off x="318919" y="584969"/>
            <a:ext cx="5122545" cy="1082675"/>
            <a:chOff x="318919" y="584969"/>
            <a:chExt cx="5122545" cy="1082675"/>
          </a:xfrm>
        </p:grpSpPr>
        <p:sp>
          <p:nvSpPr>
            <p:cNvPr id="103" name="object 103"/>
            <p:cNvSpPr/>
            <p:nvPr/>
          </p:nvSpPr>
          <p:spPr>
            <a:xfrm>
              <a:off x="323999" y="590049"/>
              <a:ext cx="5112385" cy="0"/>
            </a:xfrm>
            <a:custGeom>
              <a:avLst/>
              <a:gdLst/>
              <a:ahLst/>
              <a:cxnLst/>
              <a:rect l="l" t="t" r="r" b="b"/>
              <a:pathLst>
                <a:path w="5112385">
                  <a:moveTo>
                    <a:pt x="0" y="0"/>
                  </a:moveTo>
                  <a:lnTo>
                    <a:pt x="5111999" y="0"/>
                  </a:lnTo>
                </a:path>
              </a:pathLst>
            </a:custGeom>
            <a:ln w="10160">
              <a:solidFill>
                <a:srgbClr val="24392B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323999" y="1299350"/>
              <a:ext cx="836930" cy="364490"/>
            </a:xfrm>
            <a:custGeom>
              <a:avLst/>
              <a:gdLst/>
              <a:ahLst/>
              <a:cxnLst/>
              <a:rect l="l" t="t" r="r" b="b"/>
              <a:pathLst>
                <a:path w="836930" h="364489">
                  <a:moveTo>
                    <a:pt x="836928" y="364339"/>
                  </a:moveTo>
                  <a:lnTo>
                    <a:pt x="0" y="364339"/>
                  </a:lnTo>
                  <a:lnTo>
                    <a:pt x="0" y="0"/>
                  </a:lnTo>
                  <a:lnTo>
                    <a:pt x="836928" y="0"/>
                  </a:lnTo>
                  <a:lnTo>
                    <a:pt x="836928" y="364339"/>
                  </a:lnTo>
                  <a:close/>
                </a:path>
              </a:pathLst>
            </a:custGeom>
            <a:solidFill>
              <a:srgbClr val="12201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323999" y="1299350"/>
              <a:ext cx="836930" cy="364490"/>
            </a:xfrm>
            <a:custGeom>
              <a:avLst/>
              <a:gdLst/>
              <a:ahLst/>
              <a:cxnLst/>
              <a:rect l="l" t="t" r="r" b="b"/>
              <a:pathLst>
                <a:path w="836930" h="364489">
                  <a:moveTo>
                    <a:pt x="0" y="0"/>
                  </a:moveTo>
                  <a:lnTo>
                    <a:pt x="836928" y="0"/>
                  </a:lnTo>
                  <a:lnTo>
                    <a:pt x="836928" y="364339"/>
                  </a:lnTo>
                  <a:lnTo>
                    <a:pt x="0" y="364339"/>
                  </a:lnTo>
                  <a:lnTo>
                    <a:pt x="0" y="0"/>
                  </a:lnTo>
                  <a:close/>
                </a:path>
              </a:pathLst>
            </a:custGeom>
            <a:ln w="7010">
              <a:solidFill>
                <a:srgbClr val="2439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8" name="object 108"/>
          <p:cNvSpPr txBox="1"/>
          <p:nvPr/>
        </p:nvSpPr>
        <p:spPr>
          <a:xfrm>
            <a:off x="311299" y="703866"/>
            <a:ext cx="4582160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74A982"/>
                </a:solidFill>
                <a:latin typeface="Courier New"/>
                <a:cs typeface="Courier New"/>
              </a:rPr>
              <a:t>Because</a:t>
            </a:r>
            <a:r>
              <a:rPr sz="1150" spc="-5" dirty="0">
                <a:solidFill>
                  <a:srgbClr val="74A982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74A982"/>
                </a:solidFill>
                <a:latin typeface="Courier New"/>
                <a:cs typeface="Courier New"/>
              </a:rPr>
              <a:t>a</a:t>
            </a:r>
            <a:r>
              <a:rPr sz="1150" spc="-5" dirty="0">
                <a:solidFill>
                  <a:srgbClr val="74A982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74A982"/>
                </a:solidFill>
                <a:latin typeface="Courier New"/>
                <a:cs typeface="Courier New"/>
              </a:rPr>
              <a:t>machine</a:t>
            </a:r>
            <a:r>
              <a:rPr sz="1150" spc="-5" dirty="0">
                <a:solidFill>
                  <a:srgbClr val="74A982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74A982"/>
                </a:solidFill>
                <a:latin typeface="Courier New"/>
                <a:cs typeface="Courier New"/>
              </a:rPr>
              <a:t>decides</a:t>
            </a:r>
            <a:r>
              <a:rPr sz="1150" spc="-5" dirty="0">
                <a:solidFill>
                  <a:srgbClr val="74A982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74A982"/>
                </a:solidFill>
                <a:latin typeface="Courier New"/>
                <a:cs typeface="Courier New"/>
              </a:rPr>
              <a:t>the</a:t>
            </a:r>
            <a:r>
              <a:rPr sz="1150" spc="-5" dirty="0">
                <a:solidFill>
                  <a:srgbClr val="74A982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74A982"/>
                </a:solidFill>
                <a:latin typeface="Courier New"/>
                <a:cs typeface="Courier New"/>
              </a:rPr>
              <a:t>mitigation,</a:t>
            </a:r>
            <a:r>
              <a:rPr sz="1150" spc="-5" dirty="0">
                <a:solidFill>
                  <a:srgbClr val="74A982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74A982"/>
                </a:solidFill>
                <a:latin typeface="Courier New"/>
                <a:cs typeface="Courier New"/>
              </a:rPr>
              <a:t>the</a:t>
            </a:r>
            <a:r>
              <a:rPr sz="1150" spc="-5" dirty="0">
                <a:solidFill>
                  <a:srgbClr val="74A982"/>
                </a:solidFill>
                <a:latin typeface="Courier New"/>
                <a:cs typeface="Courier New"/>
              </a:rPr>
              <a:t> </a:t>
            </a:r>
            <a:r>
              <a:rPr sz="1150" spc="-10" dirty="0">
                <a:solidFill>
                  <a:srgbClr val="74A982"/>
                </a:solidFill>
                <a:latin typeface="Courier New"/>
                <a:cs typeface="Courier New"/>
              </a:rPr>
              <a:t>policy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381403" y="1302586"/>
            <a:ext cx="467359" cy="339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8500"/>
              </a:lnSpc>
              <a:spcBef>
                <a:spcPts val="95"/>
              </a:spcBef>
            </a:pPr>
            <a:r>
              <a:rPr sz="950" spc="-10" dirty="0">
                <a:solidFill>
                  <a:srgbClr val="C9F5CF"/>
                </a:solidFill>
                <a:latin typeface="Courier New"/>
                <a:cs typeface="Courier New"/>
              </a:rPr>
              <a:t>Ingest alert</a:t>
            </a:r>
            <a:endParaRPr sz="950">
              <a:latin typeface="Courier New"/>
              <a:cs typeface="Courier New"/>
            </a:endParaRPr>
          </a:p>
        </p:txBody>
      </p:sp>
      <p:grpSp>
        <p:nvGrpSpPr>
          <p:cNvPr id="113" name="object 113"/>
          <p:cNvGrpSpPr/>
          <p:nvPr/>
        </p:nvGrpSpPr>
        <p:grpSpPr>
          <a:xfrm>
            <a:off x="1200361" y="1295540"/>
            <a:ext cx="1033144" cy="372110"/>
            <a:chOff x="1200361" y="1295540"/>
            <a:chExt cx="1033144" cy="372110"/>
          </a:xfrm>
        </p:grpSpPr>
        <p:sp>
          <p:nvSpPr>
            <p:cNvPr id="114" name="object 114"/>
            <p:cNvSpPr/>
            <p:nvPr/>
          </p:nvSpPr>
          <p:spPr>
            <a:xfrm>
              <a:off x="1207663" y="1481520"/>
              <a:ext cx="80010" cy="0"/>
            </a:xfrm>
            <a:custGeom>
              <a:avLst/>
              <a:gdLst/>
              <a:ahLst/>
              <a:cxnLst/>
              <a:rect l="l" t="t" r="r" b="b"/>
              <a:pathLst>
                <a:path w="80009">
                  <a:moveTo>
                    <a:pt x="0" y="0"/>
                  </a:moveTo>
                  <a:lnTo>
                    <a:pt x="79948" y="0"/>
                  </a:lnTo>
                </a:path>
              </a:pathLst>
            </a:custGeom>
            <a:ln w="14020">
              <a:solidFill>
                <a:srgbClr val="4BF07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1275927" y="1440626"/>
              <a:ext cx="70485" cy="81915"/>
            </a:xfrm>
            <a:custGeom>
              <a:avLst/>
              <a:gdLst/>
              <a:ahLst/>
              <a:cxnLst/>
              <a:rect l="l" t="t" r="r" b="b"/>
              <a:pathLst>
                <a:path w="70484" h="81915">
                  <a:moveTo>
                    <a:pt x="0" y="81788"/>
                  </a:moveTo>
                  <a:lnTo>
                    <a:pt x="0" y="0"/>
                  </a:lnTo>
                  <a:lnTo>
                    <a:pt x="70104" y="40894"/>
                  </a:lnTo>
                  <a:lnTo>
                    <a:pt x="0" y="81788"/>
                  </a:lnTo>
                  <a:close/>
                </a:path>
              </a:pathLst>
            </a:custGeom>
            <a:solidFill>
              <a:srgbClr val="4BF0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1392767" y="1299350"/>
              <a:ext cx="836930" cy="364490"/>
            </a:xfrm>
            <a:custGeom>
              <a:avLst/>
              <a:gdLst/>
              <a:ahLst/>
              <a:cxnLst/>
              <a:rect l="l" t="t" r="r" b="b"/>
              <a:pathLst>
                <a:path w="836930" h="364489">
                  <a:moveTo>
                    <a:pt x="836928" y="364339"/>
                  </a:moveTo>
                  <a:lnTo>
                    <a:pt x="0" y="364339"/>
                  </a:lnTo>
                  <a:lnTo>
                    <a:pt x="0" y="0"/>
                  </a:lnTo>
                  <a:lnTo>
                    <a:pt x="836928" y="0"/>
                  </a:lnTo>
                  <a:lnTo>
                    <a:pt x="836928" y="364339"/>
                  </a:lnTo>
                  <a:close/>
                </a:path>
              </a:pathLst>
            </a:custGeom>
            <a:solidFill>
              <a:srgbClr val="12201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1392767" y="1299350"/>
              <a:ext cx="836930" cy="364490"/>
            </a:xfrm>
            <a:custGeom>
              <a:avLst/>
              <a:gdLst/>
              <a:ahLst/>
              <a:cxnLst/>
              <a:rect l="l" t="t" r="r" b="b"/>
              <a:pathLst>
                <a:path w="836930" h="364489">
                  <a:moveTo>
                    <a:pt x="0" y="0"/>
                  </a:moveTo>
                  <a:lnTo>
                    <a:pt x="836928" y="0"/>
                  </a:lnTo>
                  <a:lnTo>
                    <a:pt x="836928" y="364339"/>
                  </a:lnTo>
                  <a:lnTo>
                    <a:pt x="0" y="364339"/>
                  </a:lnTo>
                  <a:lnTo>
                    <a:pt x="0" y="0"/>
                  </a:lnTo>
                  <a:close/>
                </a:path>
              </a:pathLst>
            </a:custGeom>
            <a:ln w="7010">
              <a:solidFill>
                <a:srgbClr val="2439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5" name="object 125"/>
          <p:cNvSpPr txBox="1"/>
          <p:nvPr/>
        </p:nvSpPr>
        <p:spPr>
          <a:xfrm>
            <a:off x="311299" y="890810"/>
            <a:ext cx="2479040" cy="4076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74A982"/>
                </a:solidFill>
                <a:latin typeface="Courier New"/>
                <a:cs typeface="Courier New"/>
              </a:rPr>
              <a:t>engine</a:t>
            </a:r>
            <a:r>
              <a:rPr sz="1150" spc="-5" dirty="0">
                <a:solidFill>
                  <a:srgbClr val="74A982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74A982"/>
                </a:solidFill>
                <a:latin typeface="Courier New"/>
                <a:cs typeface="Courier New"/>
              </a:rPr>
              <a:t>sets</a:t>
            </a:r>
            <a:r>
              <a:rPr sz="1150" spc="-5" dirty="0">
                <a:solidFill>
                  <a:srgbClr val="74A982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74A982"/>
                </a:solidFill>
                <a:latin typeface="Courier New"/>
                <a:cs typeface="Courier New"/>
              </a:rPr>
              <a:t>what</a:t>
            </a:r>
            <a:r>
              <a:rPr sz="1150" spc="-5" dirty="0">
                <a:solidFill>
                  <a:srgbClr val="74A982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74A982"/>
                </a:solidFill>
                <a:latin typeface="Courier New"/>
                <a:cs typeface="Courier New"/>
              </a:rPr>
              <a:t>runs</a:t>
            </a:r>
            <a:r>
              <a:rPr sz="1150" spc="-5" dirty="0">
                <a:solidFill>
                  <a:srgbClr val="74A982"/>
                </a:solidFill>
                <a:latin typeface="Courier New"/>
                <a:cs typeface="Courier New"/>
              </a:rPr>
              <a:t> </a:t>
            </a:r>
            <a:r>
              <a:rPr sz="1150" spc="-10" dirty="0">
                <a:solidFill>
                  <a:srgbClr val="74A982"/>
                </a:solidFill>
                <a:latin typeface="Courier New"/>
                <a:cs typeface="Courier New"/>
              </a:rPr>
              <a:t>alone.</a:t>
            </a:r>
            <a:endParaRPr sz="11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  <a:tabLst>
                <a:tab pos="1081405" algn="l"/>
                <a:tab pos="2150110" algn="l"/>
              </a:tabLst>
            </a:pPr>
            <a:r>
              <a:rPr sz="800" spc="-25" dirty="0">
                <a:solidFill>
                  <a:srgbClr val="4BF07A"/>
                </a:solidFill>
                <a:latin typeface="Courier New"/>
                <a:cs typeface="Courier New"/>
              </a:rPr>
              <a:t>01</a:t>
            </a:r>
            <a:r>
              <a:rPr sz="800" dirty="0">
                <a:solidFill>
                  <a:srgbClr val="4BF07A"/>
                </a:solidFill>
                <a:latin typeface="Courier New"/>
                <a:cs typeface="Courier New"/>
              </a:rPr>
              <a:t>	</a:t>
            </a:r>
            <a:r>
              <a:rPr sz="800" spc="-25" dirty="0">
                <a:solidFill>
                  <a:srgbClr val="4BF07A"/>
                </a:solidFill>
                <a:latin typeface="Courier New"/>
                <a:cs typeface="Courier New"/>
              </a:rPr>
              <a:t>02</a:t>
            </a:r>
            <a:r>
              <a:rPr sz="800" dirty="0">
                <a:solidFill>
                  <a:srgbClr val="4BF07A"/>
                </a:solidFill>
                <a:latin typeface="Courier New"/>
                <a:cs typeface="Courier New"/>
              </a:rPr>
              <a:t>	</a:t>
            </a:r>
            <a:r>
              <a:rPr sz="800" spc="-25" dirty="0">
                <a:solidFill>
                  <a:srgbClr val="4BF07A"/>
                </a:solidFill>
                <a:latin typeface="Courier New"/>
                <a:cs typeface="Courier New"/>
              </a:rPr>
              <a:t>03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35" name="object 135"/>
          <p:cNvSpPr txBox="1"/>
          <p:nvPr/>
        </p:nvSpPr>
        <p:spPr>
          <a:xfrm>
            <a:off x="3517603" y="1146442"/>
            <a:ext cx="151765" cy="151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25" dirty="0">
                <a:solidFill>
                  <a:srgbClr val="4BF07A"/>
                </a:solidFill>
                <a:latin typeface="Courier New"/>
                <a:cs typeface="Courier New"/>
              </a:rPr>
              <a:t>04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45" name="object 145"/>
          <p:cNvSpPr txBox="1"/>
          <p:nvPr/>
        </p:nvSpPr>
        <p:spPr>
          <a:xfrm>
            <a:off x="4586371" y="1146442"/>
            <a:ext cx="151765" cy="151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25" dirty="0">
                <a:solidFill>
                  <a:srgbClr val="4BF07A"/>
                </a:solidFill>
                <a:latin typeface="Courier New"/>
                <a:cs typeface="Courier New"/>
              </a:rPr>
              <a:t>05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18" name="object 118"/>
          <p:cNvSpPr txBox="1"/>
          <p:nvPr/>
        </p:nvSpPr>
        <p:spPr>
          <a:xfrm>
            <a:off x="1450172" y="1302586"/>
            <a:ext cx="541020" cy="339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8500"/>
              </a:lnSpc>
              <a:spcBef>
                <a:spcPts val="95"/>
              </a:spcBef>
            </a:pPr>
            <a:r>
              <a:rPr sz="950" spc="-10" dirty="0">
                <a:solidFill>
                  <a:srgbClr val="C9F5CF"/>
                </a:solidFill>
                <a:latin typeface="Courier New"/>
                <a:cs typeface="Courier New"/>
              </a:rPr>
              <a:t>Propose actions</a:t>
            </a:r>
            <a:endParaRPr sz="950">
              <a:latin typeface="Courier New"/>
              <a:cs typeface="Courier New"/>
            </a:endParaRPr>
          </a:p>
        </p:txBody>
      </p:sp>
      <p:grpSp>
        <p:nvGrpSpPr>
          <p:cNvPr id="122" name="object 122"/>
          <p:cNvGrpSpPr/>
          <p:nvPr/>
        </p:nvGrpSpPr>
        <p:grpSpPr>
          <a:xfrm>
            <a:off x="2269129" y="1440626"/>
            <a:ext cx="146050" cy="81915"/>
            <a:chOff x="2269129" y="1440626"/>
            <a:chExt cx="146050" cy="81915"/>
          </a:xfrm>
        </p:grpSpPr>
        <p:sp>
          <p:nvSpPr>
            <p:cNvPr id="123" name="object 123"/>
            <p:cNvSpPr/>
            <p:nvPr/>
          </p:nvSpPr>
          <p:spPr>
            <a:xfrm>
              <a:off x="2276432" y="1481520"/>
              <a:ext cx="80010" cy="0"/>
            </a:xfrm>
            <a:custGeom>
              <a:avLst/>
              <a:gdLst/>
              <a:ahLst/>
              <a:cxnLst/>
              <a:rect l="l" t="t" r="r" b="b"/>
              <a:pathLst>
                <a:path w="80010">
                  <a:moveTo>
                    <a:pt x="0" y="0"/>
                  </a:moveTo>
                  <a:lnTo>
                    <a:pt x="79948" y="0"/>
                  </a:lnTo>
                </a:path>
              </a:pathLst>
            </a:custGeom>
            <a:ln w="14020">
              <a:solidFill>
                <a:srgbClr val="4BF07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2344696" y="1440626"/>
              <a:ext cx="70485" cy="81915"/>
            </a:xfrm>
            <a:custGeom>
              <a:avLst/>
              <a:gdLst/>
              <a:ahLst/>
              <a:cxnLst/>
              <a:rect l="l" t="t" r="r" b="b"/>
              <a:pathLst>
                <a:path w="70485" h="81915">
                  <a:moveTo>
                    <a:pt x="0" y="81788"/>
                  </a:moveTo>
                  <a:lnTo>
                    <a:pt x="0" y="0"/>
                  </a:lnTo>
                  <a:lnTo>
                    <a:pt x="70104" y="40894"/>
                  </a:lnTo>
                  <a:lnTo>
                    <a:pt x="0" y="81788"/>
                  </a:lnTo>
                  <a:close/>
                </a:path>
              </a:pathLst>
            </a:custGeom>
            <a:solidFill>
              <a:srgbClr val="4BF0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6" name="object 126"/>
          <p:cNvGrpSpPr/>
          <p:nvPr/>
        </p:nvGrpSpPr>
        <p:grpSpPr>
          <a:xfrm>
            <a:off x="2457725" y="1295540"/>
            <a:ext cx="844550" cy="372110"/>
            <a:chOff x="2457725" y="1295540"/>
            <a:chExt cx="844550" cy="372110"/>
          </a:xfrm>
        </p:grpSpPr>
        <p:sp>
          <p:nvSpPr>
            <p:cNvPr id="127" name="object 127"/>
            <p:cNvSpPr/>
            <p:nvPr/>
          </p:nvSpPr>
          <p:spPr>
            <a:xfrm>
              <a:off x="2461535" y="1299350"/>
              <a:ext cx="836930" cy="364490"/>
            </a:xfrm>
            <a:custGeom>
              <a:avLst/>
              <a:gdLst/>
              <a:ahLst/>
              <a:cxnLst/>
              <a:rect l="l" t="t" r="r" b="b"/>
              <a:pathLst>
                <a:path w="836929" h="364489">
                  <a:moveTo>
                    <a:pt x="836928" y="364339"/>
                  </a:moveTo>
                  <a:lnTo>
                    <a:pt x="0" y="364339"/>
                  </a:lnTo>
                  <a:lnTo>
                    <a:pt x="0" y="0"/>
                  </a:lnTo>
                  <a:lnTo>
                    <a:pt x="836928" y="0"/>
                  </a:lnTo>
                  <a:lnTo>
                    <a:pt x="836928" y="364339"/>
                  </a:lnTo>
                  <a:close/>
                </a:path>
              </a:pathLst>
            </a:custGeom>
            <a:solidFill>
              <a:srgbClr val="12201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2461535" y="1299350"/>
              <a:ext cx="836930" cy="364490"/>
            </a:xfrm>
            <a:custGeom>
              <a:avLst/>
              <a:gdLst/>
              <a:ahLst/>
              <a:cxnLst/>
              <a:rect l="l" t="t" r="r" b="b"/>
              <a:pathLst>
                <a:path w="836929" h="364489">
                  <a:moveTo>
                    <a:pt x="0" y="0"/>
                  </a:moveTo>
                  <a:lnTo>
                    <a:pt x="836928" y="0"/>
                  </a:lnTo>
                  <a:lnTo>
                    <a:pt x="836928" y="364339"/>
                  </a:lnTo>
                  <a:lnTo>
                    <a:pt x="0" y="364339"/>
                  </a:lnTo>
                  <a:lnTo>
                    <a:pt x="0" y="0"/>
                  </a:lnTo>
                  <a:close/>
                </a:path>
              </a:pathLst>
            </a:custGeom>
            <a:ln w="7010">
              <a:solidFill>
                <a:srgbClr val="2439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9" name="object 129"/>
          <p:cNvSpPr txBox="1"/>
          <p:nvPr/>
        </p:nvSpPr>
        <p:spPr>
          <a:xfrm>
            <a:off x="2518940" y="1302586"/>
            <a:ext cx="467359" cy="339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8500"/>
              </a:lnSpc>
              <a:spcBef>
                <a:spcPts val="95"/>
              </a:spcBef>
            </a:pPr>
            <a:r>
              <a:rPr sz="950" spc="-10" dirty="0">
                <a:solidFill>
                  <a:srgbClr val="C9F5CF"/>
                </a:solidFill>
                <a:latin typeface="Courier New"/>
                <a:cs typeface="Courier New"/>
              </a:rPr>
              <a:t>Policy engine</a:t>
            </a:r>
            <a:endParaRPr sz="950">
              <a:latin typeface="Courier New"/>
              <a:cs typeface="Courier New"/>
            </a:endParaRPr>
          </a:p>
        </p:txBody>
      </p:sp>
      <p:grpSp>
        <p:nvGrpSpPr>
          <p:cNvPr id="132" name="object 132"/>
          <p:cNvGrpSpPr/>
          <p:nvPr/>
        </p:nvGrpSpPr>
        <p:grpSpPr>
          <a:xfrm>
            <a:off x="3337897" y="1440626"/>
            <a:ext cx="146050" cy="81915"/>
            <a:chOff x="3337897" y="1440626"/>
            <a:chExt cx="146050" cy="81915"/>
          </a:xfrm>
        </p:grpSpPr>
        <p:sp>
          <p:nvSpPr>
            <p:cNvPr id="133" name="object 133"/>
            <p:cNvSpPr/>
            <p:nvPr/>
          </p:nvSpPr>
          <p:spPr>
            <a:xfrm>
              <a:off x="3345199" y="1481520"/>
              <a:ext cx="80010" cy="0"/>
            </a:xfrm>
            <a:custGeom>
              <a:avLst/>
              <a:gdLst/>
              <a:ahLst/>
              <a:cxnLst/>
              <a:rect l="l" t="t" r="r" b="b"/>
              <a:pathLst>
                <a:path w="80010">
                  <a:moveTo>
                    <a:pt x="0" y="0"/>
                  </a:moveTo>
                  <a:lnTo>
                    <a:pt x="79948" y="0"/>
                  </a:lnTo>
                </a:path>
              </a:pathLst>
            </a:custGeom>
            <a:ln w="14020">
              <a:solidFill>
                <a:srgbClr val="4BF07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3413463" y="1440626"/>
              <a:ext cx="70485" cy="81915"/>
            </a:xfrm>
            <a:custGeom>
              <a:avLst/>
              <a:gdLst/>
              <a:ahLst/>
              <a:cxnLst/>
              <a:rect l="l" t="t" r="r" b="b"/>
              <a:pathLst>
                <a:path w="70485" h="81915">
                  <a:moveTo>
                    <a:pt x="0" y="81788"/>
                  </a:moveTo>
                  <a:lnTo>
                    <a:pt x="0" y="0"/>
                  </a:lnTo>
                  <a:lnTo>
                    <a:pt x="70104" y="40894"/>
                  </a:lnTo>
                  <a:lnTo>
                    <a:pt x="0" y="81788"/>
                  </a:lnTo>
                  <a:close/>
                </a:path>
              </a:pathLst>
            </a:custGeom>
            <a:solidFill>
              <a:srgbClr val="4BF0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6" name="object 136"/>
          <p:cNvGrpSpPr/>
          <p:nvPr/>
        </p:nvGrpSpPr>
        <p:grpSpPr>
          <a:xfrm>
            <a:off x="3526493" y="1295540"/>
            <a:ext cx="844550" cy="372110"/>
            <a:chOff x="3526493" y="1295540"/>
            <a:chExt cx="844550" cy="372110"/>
          </a:xfrm>
        </p:grpSpPr>
        <p:sp>
          <p:nvSpPr>
            <p:cNvPr id="137" name="object 137"/>
            <p:cNvSpPr/>
            <p:nvPr/>
          </p:nvSpPr>
          <p:spPr>
            <a:xfrm>
              <a:off x="3530303" y="1299350"/>
              <a:ext cx="836930" cy="364490"/>
            </a:xfrm>
            <a:custGeom>
              <a:avLst/>
              <a:gdLst/>
              <a:ahLst/>
              <a:cxnLst/>
              <a:rect l="l" t="t" r="r" b="b"/>
              <a:pathLst>
                <a:path w="836929" h="364489">
                  <a:moveTo>
                    <a:pt x="836928" y="364339"/>
                  </a:moveTo>
                  <a:lnTo>
                    <a:pt x="0" y="364339"/>
                  </a:lnTo>
                  <a:lnTo>
                    <a:pt x="0" y="0"/>
                  </a:lnTo>
                  <a:lnTo>
                    <a:pt x="836928" y="0"/>
                  </a:lnTo>
                  <a:lnTo>
                    <a:pt x="836928" y="364339"/>
                  </a:lnTo>
                  <a:close/>
                </a:path>
              </a:pathLst>
            </a:custGeom>
            <a:solidFill>
              <a:srgbClr val="12201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3530303" y="1299350"/>
              <a:ext cx="836930" cy="364490"/>
            </a:xfrm>
            <a:custGeom>
              <a:avLst/>
              <a:gdLst/>
              <a:ahLst/>
              <a:cxnLst/>
              <a:rect l="l" t="t" r="r" b="b"/>
              <a:pathLst>
                <a:path w="836929" h="364489">
                  <a:moveTo>
                    <a:pt x="0" y="0"/>
                  </a:moveTo>
                  <a:lnTo>
                    <a:pt x="836928" y="0"/>
                  </a:lnTo>
                  <a:lnTo>
                    <a:pt x="836928" y="364339"/>
                  </a:lnTo>
                  <a:lnTo>
                    <a:pt x="0" y="364339"/>
                  </a:lnTo>
                  <a:lnTo>
                    <a:pt x="0" y="0"/>
                  </a:lnTo>
                  <a:close/>
                </a:path>
              </a:pathLst>
            </a:custGeom>
            <a:ln w="7010">
              <a:solidFill>
                <a:srgbClr val="2439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9" name="object 139"/>
          <p:cNvSpPr txBox="1"/>
          <p:nvPr/>
        </p:nvSpPr>
        <p:spPr>
          <a:xfrm>
            <a:off x="3587708" y="1302586"/>
            <a:ext cx="614680" cy="339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8500"/>
              </a:lnSpc>
              <a:spcBef>
                <a:spcPts val="95"/>
              </a:spcBef>
            </a:pPr>
            <a:r>
              <a:rPr sz="950" spc="-10" dirty="0">
                <a:solidFill>
                  <a:srgbClr val="C9F5CF"/>
                </a:solidFill>
                <a:latin typeface="Courier New"/>
                <a:cs typeface="Courier New"/>
              </a:rPr>
              <a:t>Execute </a:t>
            </a:r>
            <a:r>
              <a:rPr sz="950" dirty="0">
                <a:solidFill>
                  <a:srgbClr val="C9F5CF"/>
                </a:solidFill>
                <a:latin typeface="Courier New"/>
                <a:cs typeface="Courier New"/>
              </a:rPr>
              <a:t>or</a:t>
            </a:r>
            <a:r>
              <a:rPr sz="950" spc="5" dirty="0">
                <a:solidFill>
                  <a:srgbClr val="C9F5CF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C9F5CF"/>
                </a:solidFill>
                <a:latin typeface="Courier New"/>
                <a:cs typeface="Courier New"/>
              </a:rPr>
              <a:t>queue</a:t>
            </a:r>
            <a:endParaRPr sz="950">
              <a:latin typeface="Courier New"/>
              <a:cs typeface="Courier New"/>
            </a:endParaRPr>
          </a:p>
        </p:txBody>
      </p:sp>
      <p:grpSp>
        <p:nvGrpSpPr>
          <p:cNvPr id="142" name="object 142"/>
          <p:cNvGrpSpPr/>
          <p:nvPr/>
        </p:nvGrpSpPr>
        <p:grpSpPr>
          <a:xfrm>
            <a:off x="4406665" y="1440626"/>
            <a:ext cx="146050" cy="81915"/>
            <a:chOff x="4406665" y="1440626"/>
            <a:chExt cx="146050" cy="81915"/>
          </a:xfrm>
        </p:grpSpPr>
        <p:sp>
          <p:nvSpPr>
            <p:cNvPr id="143" name="object 143"/>
            <p:cNvSpPr/>
            <p:nvPr/>
          </p:nvSpPr>
          <p:spPr>
            <a:xfrm>
              <a:off x="4413968" y="1481520"/>
              <a:ext cx="80010" cy="0"/>
            </a:xfrm>
            <a:custGeom>
              <a:avLst/>
              <a:gdLst/>
              <a:ahLst/>
              <a:cxnLst/>
              <a:rect l="l" t="t" r="r" b="b"/>
              <a:pathLst>
                <a:path w="80010">
                  <a:moveTo>
                    <a:pt x="0" y="0"/>
                  </a:moveTo>
                  <a:lnTo>
                    <a:pt x="79948" y="0"/>
                  </a:lnTo>
                </a:path>
              </a:pathLst>
            </a:custGeom>
            <a:ln w="14020">
              <a:solidFill>
                <a:srgbClr val="4BF07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4482231" y="1440626"/>
              <a:ext cx="70485" cy="81915"/>
            </a:xfrm>
            <a:custGeom>
              <a:avLst/>
              <a:gdLst/>
              <a:ahLst/>
              <a:cxnLst/>
              <a:rect l="l" t="t" r="r" b="b"/>
              <a:pathLst>
                <a:path w="70485" h="81915">
                  <a:moveTo>
                    <a:pt x="0" y="81788"/>
                  </a:moveTo>
                  <a:lnTo>
                    <a:pt x="0" y="0"/>
                  </a:lnTo>
                  <a:lnTo>
                    <a:pt x="70104" y="40894"/>
                  </a:lnTo>
                  <a:lnTo>
                    <a:pt x="0" y="81788"/>
                  </a:lnTo>
                  <a:close/>
                </a:path>
              </a:pathLst>
            </a:custGeom>
            <a:solidFill>
              <a:srgbClr val="4BF0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6" name="object 146"/>
          <p:cNvGrpSpPr/>
          <p:nvPr/>
        </p:nvGrpSpPr>
        <p:grpSpPr>
          <a:xfrm>
            <a:off x="4595566" y="1295844"/>
            <a:ext cx="844550" cy="371475"/>
            <a:chOff x="4595566" y="1295844"/>
            <a:chExt cx="844550" cy="371475"/>
          </a:xfrm>
        </p:grpSpPr>
        <p:sp>
          <p:nvSpPr>
            <p:cNvPr id="147" name="object 147"/>
            <p:cNvSpPr/>
            <p:nvPr/>
          </p:nvSpPr>
          <p:spPr>
            <a:xfrm>
              <a:off x="4599071" y="1299350"/>
              <a:ext cx="836930" cy="364490"/>
            </a:xfrm>
            <a:custGeom>
              <a:avLst/>
              <a:gdLst/>
              <a:ahLst/>
              <a:cxnLst/>
              <a:rect l="l" t="t" r="r" b="b"/>
              <a:pathLst>
                <a:path w="836929" h="364489">
                  <a:moveTo>
                    <a:pt x="836928" y="364339"/>
                  </a:moveTo>
                  <a:lnTo>
                    <a:pt x="0" y="364339"/>
                  </a:lnTo>
                  <a:lnTo>
                    <a:pt x="0" y="0"/>
                  </a:lnTo>
                  <a:lnTo>
                    <a:pt x="836928" y="0"/>
                  </a:lnTo>
                  <a:lnTo>
                    <a:pt x="836928" y="364339"/>
                  </a:lnTo>
                  <a:close/>
                </a:path>
              </a:pathLst>
            </a:custGeom>
            <a:solidFill>
              <a:srgbClr val="12201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148"/>
            <p:cNvSpPr/>
            <p:nvPr/>
          </p:nvSpPr>
          <p:spPr>
            <a:xfrm>
              <a:off x="4599071" y="1299350"/>
              <a:ext cx="836930" cy="364490"/>
            </a:xfrm>
            <a:custGeom>
              <a:avLst/>
              <a:gdLst/>
              <a:ahLst/>
              <a:cxnLst/>
              <a:rect l="l" t="t" r="r" b="b"/>
              <a:pathLst>
                <a:path w="836929" h="364489">
                  <a:moveTo>
                    <a:pt x="0" y="0"/>
                  </a:moveTo>
                  <a:lnTo>
                    <a:pt x="836928" y="0"/>
                  </a:lnTo>
                  <a:lnTo>
                    <a:pt x="836928" y="364339"/>
                  </a:lnTo>
                  <a:lnTo>
                    <a:pt x="0" y="364339"/>
                  </a:lnTo>
                  <a:lnTo>
                    <a:pt x="0" y="0"/>
                  </a:lnTo>
                  <a:close/>
                </a:path>
              </a:pathLst>
            </a:custGeom>
            <a:ln w="7010">
              <a:solidFill>
                <a:srgbClr val="2439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9" name="object 149"/>
          <p:cNvSpPr txBox="1"/>
          <p:nvPr/>
        </p:nvSpPr>
        <p:spPr>
          <a:xfrm>
            <a:off x="4656475" y="1302586"/>
            <a:ext cx="467359" cy="339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8500"/>
              </a:lnSpc>
              <a:spcBef>
                <a:spcPts val="95"/>
              </a:spcBef>
            </a:pPr>
            <a:r>
              <a:rPr sz="950" spc="-10" dirty="0">
                <a:solidFill>
                  <a:srgbClr val="C9F5CF"/>
                </a:solidFill>
                <a:latin typeface="Courier New"/>
                <a:cs typeface="Courier New"/>
              </a:rPr>
              <a:t>Write config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311299" y="1711337"/>
            <a:ext cx="762000" cy="1727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50" dirty="0">
                <a:solidFill>
                  <a:srgbClr val="74A982"/>
                </a:solidFill>
                <a:latin typeface="Courier New"/>
                <a:cs typeface="Courier New"/>
              </a:rPr>
              <a:t>source</a:t>
            </a:r>
            <a:r>
              <a:rPr sz="950" spc="5" dirty="0">
                <a:solidFill>
                  <a:srgbClr val="74A982"/>
                </a:solidFill>
                <a:latin typeface="Courier New"/>
                <a:cs typeface="Courier New"/>
              </a:rPr>
              <a:t> </a:t>
            </a:r>
            <a:r>
              <a:rPr sz="950" spc="-25" dirty="0">
                <a:solidFill>
                  <a:srgbClr val="74A982"/>
                </a:solidFill>
                <a:latin typeface="Courier New"/>
                <a:cs typeface="Courier New"/>
              </a:rPr>
              <a:t>IP,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1380067" y="1711337"/>
            <a:ext cx="541020" cy="1727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50" spc="-10" dirty="0">
                <a:solidFill>
                  <a:srgbClr val="74A982"/>
                </a:solidFill>
                <a:latin typeface="Courier New"/>
                <a:cs typeface="Courier New"/>
              </a:rPr>
              <a:t>tarpit,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30" name="object 130"/>
          <p:cNvSpPr txBox="1"/>
          <p:nvPr/>
        </p:nvSpPr>
        <p:spPr>
          <a:xfrm>
            <a:off x="2448835" y="1711337"/>
            <a:ext cx="614680" cy="1727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50" dirty="0">
                <a:solidFill>
                  <a:srgbClr val="74A982"/>
                </a:solidFill>
                <a:latin typeface="Courier New"/>
                <a:cs typeface="Courier New"/>
              </a:rPr>
              <a:t>risk</a:t>
            </a:r>
            <a:r>
              <a:rPr sz="950" spc="5" dirty="0">
                <a:solidFill>
                  <a:srgbClr val="74A982"/>
                </a:solidFill>
                <a:latin typeface="Courier New"/>
                <a:cs typeface="Courier New"/>
              </a:rPr>
              <a:t> </a:t>
            </a:r>
            <a:r>
              <a:rPr sz="950" spc="-25" dirty="0">
                <a:solidFill>
                  <a:srgbClr val="74A982"/>
                </a:solidFill>
                <a:latin typeface="Courier New"/>
                <a:cs typeface="Courier New"/>
              </a:rPr>
              <a:t>and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40" name="object 140"/>
          <p:cNvSpPr txBox="1"/>
          <p:nvPr/>
        </p:nvSpPr>
        <p:spPr>
          <a:xfrm>
            <a:off x="3517603" y="1711337"/>
            <a:ext cx="614680" cy="1727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50" dirty="0">
                <a:solidFill>
                  <a:srgbClr val="74A982"/>
                </a:solidFill>
                <a:latin typeface="Courier New"/>
                <a:cs typeface="Courier New"/>
              </a:rPr>
              <a:t>low</a:t>
            </a:r>
            <a:r>
              <a:rPr sz="950" spc="5" dirty="0">
                <a:solidFill>
                  <a:srgbClr val="74A982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74A982"/>
                </a:solidFill>
                <a:latin typeface="Courier New"/>
                <a:cs typeface="Courier New"/>
              </a:rPr>
              <a:t>risk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50" name="object 150"/>
          <p:cNvSpPr txBox="1"/>
          <p:nvPr/>
        </p:nvSpPr>
        <p:spPr>
          <a:xfrm>
            <a:off x="4586371" y="1711337"/>
            <a:ext cx="762000" cy="1727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50" dirty="0">
                <a:solidFill>
                  <a:srgbClr val="74A982"/>
                </a:solidFill>
                <a:latin typeface="Courier New"/>
                <a:cs typeface="Courier New"/>
              </a:rPr>
              <a:t>tarpit</a:t>
            </a:r>
            <a:r>
              <a:rPr sz="950" spc="5" dirty="0">
                <a:solidFill>
                  <a:srgbClr val="74A982"/>
                </a:solidFill>
                <a:latin typeface="Courier New"/>
                <a:cs typeface="Courier New"/>
              </a:rPr>
              <a:t> </a:t>
            </a:r>
            <a:r>
              <a:rPr sz="950" spc="-25" dirty="0">
                <a:solidFill>
                  <a:srgbClr val="74A982"/>
                </a:solidFill>
                <a:latin typeface="Courier New"/>
                <a:cs typeface="Courier New"/>
              </a:rPr>
              <a:t>and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311299" y="1868370"/>
            <a:ext cx="467359" cy="1727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50" spc="-10" dirty="0">
                <a:solidFill>
                  <a:srgbClr val="74A982"/>
                </a:solidFill>
                <a:latin typeface="Courier New"/>
                <a:cs typeface="Courier New"/>
              </a:rPr>
              <a:t>asset,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20" name="object 120"/>
          <p:cNvSpPr txBox="1"/>
          <p:nvPr/>
        </p:nvSpPr>
        <p:spPr>
          <a:xfrm>
            <a:off x="1380067" y="1868370"/>
            <a:ext cx="467359" cy="1727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50" spc="-10" dirty="0">
                <a:solidFill>
                  <a:srgbClr val="74A982"/>
                </a:solidFill>
                <a:latin typeface="Courier New"/>
                <a:cs typeface="Courier New"/>
              </a:rPr>
              <a:t>decoy,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31" name="object 131"/>
          <p:cNvSpPr txBox="1"/>
          <p:nvPr/>
        </p:nvSpPr>
        <p:spPr>
          <a:xfrm>
            <a:off x="2448835" y="1868370"/>
            <a:ext cx="688340" cy="1727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50" spc="-10" dirty="0">
                <a:solidFill>
                  <a:srgbClr val="74A982"/>
                </a:solidFill>
                <a:latin typeface="Courier New"/>
                <a:cs typeface="Courier New"/>
              </a:rPr>
              <a:t>privilege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41" name="object 141"/>
          <p:cNvSpPr txBox="1"/>
          <p:nvPr/>
        </p:nvSpPr>
        <p:spPr>
          <a:xfrm>
            <a:off x="3517603" y="1868370"/>
            <a:ext cx="762000" cy="1727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50" dirty="0">
                <a:solidFill>
                  <a:srgbClr val="74A982"/>
                </a:solidFill>
                <a:latin typeface="Courier New"/>
                <a:cs typeface="Courier New"/>
              </a:rPr>
              <a:t>runs</a:t>
            </a:r>
            <a:r>
              <a:rPr sz="950" spc="5" dirty="0">
                <a:solidFill>
                  <a:srgbClr val="74A982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74A982"/>
                </a:solidFill>
                <a:latin typeface="Courier New"/>
                <a:cs typeface="Courier New"/>
              </a:rPr>
              <a:t>alone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51" name="object 151"/>
          <p:cNvSpPr txBox="1"/>
          <p:nvPr/>
        </p:nvSpPr>
        <p:spPr>
          <a:xfrm>
            <a:off x="4586371" y="1868370"/>
            <a:ext cx="614680" cy="1727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50" spc="-10" dirty="0">
                <a:solidFill>
                  <a:srgbClr val="74A982"/>
                </a:solidFill>
                <a:latin typeface="Courier New"/>
                <a:cs typeface="Courier New"/>
              </a:rPr>
              <a:t>firewall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311299" y="2025403"/>
            <a:ext cx="614680" cy="1727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50" spc="-10" dirty="0">
                <a:solidFill>
                  <a:srgbClr val="74A982"/>
                </a:solidFill>
                <a:latin typeface="Courier New"/>
                <a:cs typeface="Courier New"/>
              </a:rPr>
              <a:t>severity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21" name="object 121"/>
          <p:cNvSpPr txBox="1"/>
          <p:nvPr/>
        </p:nvSpPr>
        <p:spPr>
          <a:xfrm>
            <a:off x="1380067" y="2025403"/>
            <a:ext cx="762000" cy="1727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50" spc="-10" dirty="0">
                <a:solidFill>
                  <a:srgbClr val="74A982"/>
                </a:solidFill>
                <a:latin typeface="Courier New"/>
                <a:cs typeface="Courier New"/>
              </a:rPr>
              <a:t>quarantine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52" name="object 152"/>
          <p:cNvSpPr txBox="1"/>
          <p:nvPr/>
        </p:nvSpPr>
        <p:spPr>
          <a:xfrm>
            <a:off x="4586371" y="2025403"/>
            <a:ext cx="393700" cy="1727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50" spc="-10" dirty="0">
                <a:solidFill>
                  <a:srgbClr val="74A982"/>
                </a:solidFill>
                <a:latin typeface="Courier New"/>
                <a:cs typeface="Courier New"/>
              </a:rPr>
              <a:t>rules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53" name="object 153"/>
          <p:cNvSpPr txBox="1"/>
          <p:nvPr/>
        </p:nvSpPr>
        <p:spPr>
          <a:xfrm>
            <a:off x="311299" y="2400752"/>
            <a:ext cx="4582160" cy="399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7960" marR="5080" indent="-175260">
              <a:lnSpc>
                <a:spcPct val="106700"/>
              </a:lnSpc>
              <a:spcBef>
                <a:spcPts val="100"/>
              </a:spcBef>
            </a:pPr>
            <a:r>
              <a:rPr sz="1150" dirty="0">
                <a:solidFill>
                  <a:srgbClr val="4BF07A"/>
                </a:solidFill>
                <a:latin typeface="Courier New"/>
                <a:cs typeface="Courier New"/>
              </a:rPr>
              <a:t>&gt;</a:t>
            </a:r>
            <a:r>
              <a:rPr sz="1150" spc="-5" dirty="0">
                <a:solidFill>
                  <a:srgbClr val="4BF07A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C9F5CF"/>
                </a:solidFill>
                <a:latin typeface="Courier New"/>
                <a:cs typeface="Courier New"/>
              </a:rPr>
              <a:t>In</a:t>
            </a:r>
            <a:r>
              <a:rPr sz="1150" spc="-5" dirty="0">
                <a:solidFill>
                  <a:srgbClr val="C9F5CF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C9F5CF"/>
                </a:solidFill>
                <a:latin typeface="Courier New"/>
                <a:cs typeface="Courier New"/>
              </a:rPr>
              <a:t>supervised</a:t>
            </a:r>
            <a:r>
              <a:rPr sz="1150" spc="-5" dirty="0">
                <a:solidFill>
                  <a:srgbClr val="C9F5CF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C9F5CF"/>
                </a:solidFill>
                <a:latin typeface="Courier New"/>
                <a:cs typeface="Courier New"/>
              </a:rPr>
              <a:t>mode</a:t>
            </a:r>
            <a:r>
              <a:rPr sz="1150" spc="-5" dirty="0">
                <a:solidFill>
                  <a:srgbClr val="C9F5CF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C9F5CF"/>
                </a:solidFill>
                <a:latin typeface="Courier New"/>
                <a:cs typeface="Courier New"/>
              </a:rPr>
              <a:t>every</a:t>
            </a:r>
            <a:r>
              <a:rPr sz="1150" spc="-5" dirty="0">
                <a:solidFill>
                  <a:srgbClr val="C9F5CF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C9F5CF"/>
                </a:solidFill>
                <a:latin typeface="Courier New"/>
                <a:cs typeface="Courier New"/>
              </a:rPr>
              <a:t>action</a:t>
            </a:r>
            <a:r>
              <a:rPr sz="1150" spc="-5" dirty="0">
                <a:solidFill>
                  <a:srgbClr val="C9F5CF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C9F5CF"/>
                </a:solidFill>
                <a:latin typeface="Courier New"/>
                <a:cs typeface="Courier New"/>
              </a:rPr>
              <a:t>queues</a:t>
            </a:r>
            <a:r>
              <a:rPr sz="1150" spc="-5" dirty="0">
                <a:solidFill>
                  <a:srgbClr val="C9F5CF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C9F5CF"/>
                </a:solidFill>
                <a:latin typeface="Courier New"/>
                <a:cs typeface="Courier New"/>
              </a:rPr>
              <a:t>an</a:t>
            </a:r>
            <a:r>
              <a:rPr sz="1150" spc="-5" dirty="0">
                <a:solidFill>
                  <a:srgbClr val="C9F5CF"/>
                </a:solidFill>
                <a:latin typeface="Courier New"/>
                <a:cs typeface="Courier New"/>
              </a:rPr>
              <a:t> </a:t>
            </a:r>
            <a:r>
              <a:rPr sz="1150" spc="-10" dirty="0">
                <a:solidFill>
                  <a:srgbClr val="C9F5CF"/>
                </a:solidFill>
                <a:latin typeface="Courier New"/>
                <a:cs typeface="Courier New"/>
              </a:rPr>
              <a:t>approval </a:t>
            </a:r>
            <a:r>
              <a:rPr sz="1150" dirty="0">
                <a:solidFill>
                  <a:srgbClr val="C9F5CF"/>
                </a:solidFill>
                <a:latin typeface="Courier New"/>
                <a:cs typeface="Courier New"/>
              </a:rPr>
              <a:t>request</a:t>
            </a:r>
            <a:r>
              <a:rPr sz="1150" spc="-5" dirty="0">
                <a:solidFill>
                  <a:srgbClr val="C9F5CF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C9F5CF"/>
                </a:solidFill>
                <a:latin typeface="Courier New"/>
                <a:cs typeface="Courier New"/>
              </a:rPr>
              <a:t>for</a:t>
            </a:r>
            <a:r>
              <a:rPr sz="1150" spc="-5" dirty="0">
                <a:solidFill>
                  <a:srgbClr val="C9F5CF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C9F5CF"/>
                </a:solidFill>
                <a:latin typeface="Courier New"/>
                <a:cs typeface="Courier New"/>
              </a:rPr>
              <a:t>the</a:t>
            </a:r>
            <a:r>
              <a:rPr sz="1150" spc="-5" dirty="0">
                <a:solidFill>
                  <a:srgbClr val="C9F5CF"/>
                </a:solidFill>
                <a:latin typeface="Courier New"/>
                <a:cs typeface="Courier New"/>
              </a:rPr>
              <a:t> </a:t>
            </a:r>
            <a:r>
              <a:rPr sz="1150" spc="-10" dirty="0">
                <a:solidFill>
                  <a:srgbClr val="C9F5CF"/>
                </a:solidFill>
                <a:latin typeface="Courier New"/>
                <a:cs typeface="Courier New"/>
              </a:rPr>
              <a:t>operator.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311299" y="2992719"/>
            <a:ext cx="7797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74A982"/>
                </a:solidFill>
                <a:latin typeface="Courier New"/>
                <a:cs typeface="Courier New"/>
              </a:rPr>
              <a:t>SpectreSync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5217559" y="2992719"/>
            <a:ext cx="23114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4BF07A"/>
                </a:solidFill>
                <a:latin typeface="Courier New"/>
                <a:cs typeface="Courier New"/>
              </a:rPr>
              <a:t>7/9</a:t>
            </a:r>
            <a:endParaRPr sz="9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5760085" cy="3240405"/>
            <a:chOff x="0" y="0"/>
            <a:chExt cx="5760085" cy="32404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5759999" cy="3239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2365200"/>
              <a:ext cx="5760085" cy="875030"/>
            </a:xfrm>
            <a:custGeom>
              <a:avLst/>
              <a:gdLst/>
              <a:ahLst/>
              <a:cxnLst/>
              <a:rect l="l" t="t" r="r" b="b"/>
              <a:pathLst>
                <a:path w="5760085" h="875030">
                  <a:moveTo>
                    <a:pt x="5759999" y="874800"/>
                  </a:moveTo>
                  <a:lnTo>
                    <a:pt x="0" y="874800"/>
                  </a:lnTo>
                  <a:lnTo>
                    <a:pt x="0" y="0"/>
                  </a:lnTo>
                  <a:lnTo>
                    <a:pt x="5759999" y="0"/>
                  </a:lnTo>
                  <a:lnTo>
                    <a:pt x="5759999" y="874800"/>
                  </a:lnTo>
                  <a:close/>
                </a:path>
              </a:pathLst>
            </a:custGeom>
            <a:solidFill>
              <a:srgbClr val="000000">
                <a:alpha val="6195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311299" y="2453012"/>
            <a:ext cx="468884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60" dirty="0">
                <a:solidFill>
                  <a:srgbClr val="FFFFFF"/>
                </a:solidFill>
                <a:latin typeface="Calibri"/>
                <a:cs typeface="Calibri"/>
              </a:rPr>
              <a:t>Spectre</a:t>
            </a:r>
            <a:r>
              <a:rPr sz="2700" spc="2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FFFFFF"/>
                </a:solidFill>
                <a:latin typeface="Calibri"/>
                <a:cs typeface="Calibri"/>
              </a:rPr>
              <a:t>AI</a:t>
            </a:r>
            <a:r>
              <a:rPr sz="2700" spc="2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spc="-20" dirty="0">
                <a:solidFill>
                  <a:srgbClr val="FFFFFF"/>
                </a:solidFill>
                <a:latin typeface="Calibri"/>
                <a:cs typeface="Calibri"/>
              </a:rPr>
              <a:t>reports</a:t>
            </a:r>
            <a:r>
              <a:rPr sz="2700" spc="2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spc="-85" dirty="0">
                <a:solidFill>
                  <a:srgbClr val="FFFFFF"/>
                </a:solidFill>
                <a:latin typeface="Calibri"/>
                <a:cs typeface="Calibri"/>
              </a:rPr>
              <a:t>posture</a:t>
            </a:r>
            <a:r>
              <a:rPr sz="2700" spc="2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spc="6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700" spc="2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spc="-75" dirty="0">
                <a:solidFill>
                  <a:srgbClr val="FFFFFF"/>
                </a:solidFill>
                <a:latin typeface="Calibri"/>
                <a:cs typeface="Calibri"/>
              </a:rPr>
              <a:t>chat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1299" y="2816549"/>
            <a:ext cx="4406900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dirty="0">
                <a:solidFill>
                  <a:srgbClr val="D1D1D1"/>
                </a:solidFill>
                <a:latin typeface="Courier New"/>
                <a:cs typeface="Courier New"/>
              </a:rPr>
              <a:t>190</a:t>
            </a:r>
            <a:r>
              <a:rPr sz="1250" spc="-5" dirty="0">
                <a:solidFill>
                  <a:srgbClr val="D1D1D1"/>
                </a:solidFill>
                <a:latin typeface="Courier New"/>
                <a:cs typeface="Courier New"/>
              </a:rPr>
              <a:t> </a:t>
            </a:r>
            <a:r>
              <a:rPr sz="1250" dirty="0">
                <a:solidFill>
                  <a:srgbClr val="D1D1D1"/>
                </a:solidFill>
                <a:latin typeface="Courier New"/>
                <a:cs typeface="Courier New"/>
              </a:rPr>
              <a:t>decoys</a:t>
            </a:r>
            <a:r>
              <a:rPr sz="1250" spc="-5" dirty="0">
                <a:solidFill>
                  <a:srgbClr val="D1D1D1"/>
                </a:solidFill>
                <a:latin typeface="Courier New"/>
                <a:cs typeface="Courier New"/>
              </a:rPr>
              <a:t> </a:t>
            </a:r>
            <a:r>
              <a:rPr sz="1250" dirty="0">
                <a:solidFill>
                  <a:srgbClr val="D1D1D1"/>
                </a:solidFill>
                <a:latin typeface="Courier New"/>
                <a:cs typeface="Courier New"/>
              </a:rPr>
              <a:t>active</a:t>
            </a:r>
            <a:r>
              <a:rPr sz="1250" spc="-5" dirty="0">
                <a:solidFill>
                  <a:srgbClr val="D1D1D1"/>
                </a:solidFill>
                <a:latin typeface="Courier New"/>
                <a:cs typeface="Courier New"/>
              </a:rPr>
              <a:t> </a:t>
            </a:r>
            <a:r>
              <a:rPr sz="1250" dirty="0">
                <a:solidFill>
                  <a:srgbClr val="D1D1D1"/>
                </a:solidFill>
                <a:latin typeface="Courier New"/>
                <a:cs typeface="Courier New"/>
              </a:rPr>
              <a:t>and</a:t>
            </a:r>
            <a:r>
              <a:rPr sz="1250" spc="-5" dirty="0">
                <a:solidFill>
                  <a:srgbClr val="D1D1D1"/>
                </a:solidFill>
                <a:latin typeface="Courier New"/>
                <a:cs typeface="Courier New"/>
              </a:rPr>
              <a:t> </a:t>
            </a:r>
            <a:r>
              <a:rPr sz="1250" dirty="0">
                <a:solidFill>
                  <a:srgbClr val="D1D1D1"/>
                </a:solidFill>
                <a:latin typeface="Courier New"/>
                <a:cs typeface="Courier New"/>
              </a:rPr>
              <a:t>a</a:t>
            </a:r>
            <a:r>
              <a:rPr sz="1250" spc="-5" dirty="0">
                <a:solidFill>
                  <a:srgbClr val="D1D1D1"/>
                </a:solidFill>
                <a:latin typeface="Courier New"/>
                <a:cs typeface="Courier New"/>
              </a:rPr>
              <a:t> </a:t>
            </a:r>
            <a:r>
              <a:rPr sz="1250" dirty="0">
                <a:solidFill>
                  <a:srgbClr val="D1D1D1"/>
                </a:solidFill>
                <a:latin typeface="Courier New"/>
                <a:cs typeface="Courier New"/>
              </a:rPr>
              <a:t>97.4%</a:t>
            </a:r>
            <a:r>
              <a:rPr sz="1250" spc="-5" dirty="0">
                <a:solidFill>
                  <a:srgbClr val="D1D1D1"/>
                </a:solidFill>
                <a:latin typeface="Courier New"/>
                <a:cs typeface="Courier New"/>
              </a:rPr>
              <a:t> </a:t>
            </a:r>
            <a:r>
              <a:rPr sz="1250" dirty="0">
                <a:solidFill>
                  <a:srgbClr val="D1D1D1"/>
                </a:solidFill>
                <a:latin typeface="Courier New"/>
                <a:cs typeface="Courier New"/>
              </a:rPr>
              <a:t>deception</a:t>
            </a:r>
            <a:r>
              <a:rPr sz="1250" spc="-5" dirty="0">
                <a:solidFill>
                  <a:srgbClr val="D1D1D1"/>
                </a:solidFill>
                <a:latin typeface="Courier New"/>
                <a:cs typeface="Courier New"/>
              </a:rPr>
              <a:t> </a:t>
            </a:r>
            <a:r>
              <a:rPr sz="1250" spc="-10" dirty="0">
                <a:solidFill>
                  <a:srgbClr val="D1D1D1"/>
                </a:solidFill>
                <a:latin typeface="Courier New"/>
                <a:cs typeface="Courier New"/>
              </a:rPr>
              <a:t>ratio.</a:t>
            </a:r>
            <a:endParaRPr sz="12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4444" y="10795"/>
            <a:ext cx="5768975" cy="3209290"/>
            <a:chOff x="-4444" y="10795"/>
            <a:chExt cx="5768975" cy="3209290"/>
          </a:xfrm>
        </p:grpSpPr>
        <p:sp>
          <p:nvSpPr>
            <p:cNvPr id="3" name="object 3"/>
            <p:cNvSpPr/>
            <p:nvPr/>
          </p:nvSpPr>
          <p:spPr>
            <a:xfrm>
              <a:off x="79199" y="79200"/>
              <a:ext cx="5601970" cy="180340"/>
            </a:xfrm>
            <a:custGeom>
              <a:avLst/>
              <a:gdLst/>
              <a:ahLst/>
              <a:cxnLst/>
              <a:rect l="l" t="t" r="r" b="b"/>
              <a:pathLst>
                <a:path w="5601970" h="180340">
                  <a:moveTo>
                    <a:pt x="5601599" y="179999"/>
                  </a:moveTo>
                  <a:lnTo>
                    <a:pt x="0" y="179999"/>
                  </a:lnTo>
                  <a:lnTo>
                    <a:pt x="0" y="31750"/>
                  </a:lnTo>
                  <a:lnTo>
                    <a:pt x="2495" y="19391"/>
                  </a:lnTo>
                  <a:lnTo>
                    <a:pt x="9299" y="9299"/>
                  </a:lnTo>
                  <a:lnTo>
                    <a:pt x="19391" y="2495"/>
                  </a:lnTo>
                  <a:lnTo>
                    <a:pt x="31750" y="0"/>
                  </a:lnTo>
                  <a:lnTo>
                    <a:pt x="5569849" y="0"/>
                  </a:lnTo>
                  <a:lnTo>
                    <a:pt x="5582208" y="2495"/>
                  </a:lnTo>
                  <a:lnTo>
                    <a:pt x="5592300" y="9299"/>
                  </a:lnTo>
                  <a:lnTo>
                    <a:pt x="5599104" y="19391"/>
                  </a:lnTo>
                  <a:lnTo>
                    <a:pt x="5601599" y="31750"/>
                  </a:lnTo>
                  <a:lnTo>
                    <a:pt x="5601599" y="179999"/>
                  </a:lnTo>
                  <a:close/>
                </a:path>
              </a:pathLst>
            </a:custGeom>
            <a:solidFill>
              <a:srgbClr val="12201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7999" y="126000"/>
              <a:ext cx="86400" cy="864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2000" y="126000"/>
              <a:ext cx="86400" cy="864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5999" y="126000"/>
              <a:ext cx="86400" cy="86400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2495824" y="104080"/>
            <a:ext cx="768350" cy="124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dirty="0">
                <a:solidFill>
                  <a:srgbClr val="74A982"/>
                </a:solidFill>
                <a:latin typeface="Courier New"/>
                <a:cs typeface="Courier New"/>
              </a:rPr>
              <a:t>~/deck</a:t>
            </a:r>
            <a:r>
              <a:rPr sz="650" spc="-5" dirty="0">
                <a:solidFill>
                  <a:srgbClr val="74A982"/>
                </a:solidFill>
                <a:latin typeface="Courier New"/>
                <a:cs typeface="Courier New"/>
              </a:rPr>
              <a:t> </a:t>
            </a:r>
            <a:r>
              <a:rPr sz="650" dirty="0">
                <a:solidFill>
                  <a:srgbClr val="74A982"/>
                </a:solidFill>
                <a:latin typeface="Courier New"/>
                <a:cs typeface="Courier New"/>
              </a:rPr>
              <a:t>—</a:t>
            </a:r>
            <a:r>
              <a:rPr sz="650" spc="-5" dirty="0">
                <a:solidFill>
                  <a:srgbClr val="74A982"/>
                </a:solidFill>
                <a:latin typeface="Courier New"/>
                <a:cs typeface="Courier New"/>
              </a:rPr>
              <a:t> </a:t>
            </a:r>
            <a:r>
              <a:rPr sz="650" dirty="0">
                <a:solidFill>
                  <a:srgbClr val="74A982"/>
                </a:solidFill>
                <a:latin typeface="Courier New"/>
                <a:cs typeface="Courier New"/>
              </a:rPr>
              <a:t>exit</a:t>
            </a:r>
            <a:r>
              <a:rPr sz="650" spc="-5" dirty="0">
                <a:solidFill>
                  <a:srgbClr val="74A982"/>
                </a:solidFill>
                <a:latin typeface="Courier New"/>
                <a:cs typeface="Courier New"/>
              </a:rPr>
              <a:t> </a:t>
            </a:r>
            <a:r>
              <a:rPr sz="650" spc="-50" dirty="0">
                <a:solidFill>
                  <a:srgbClr val="74A982"/>
                </a:solidFill>
                <a:latin typeface="Courier New"/>
                <a:cs typeface="Courier New"/>
              </a:rPr>
              <a:t>0</a:t>
            </a:r>
            <a:endParaRPr sz="650">
              <a:latin typeface="Courier New"/>
              <a:cs typeface="Courier New"/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455300" y="47309"/>
            <a:ext cx="3756660" cy="647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050" cap="small" spc="-125" dirty="0"/>
              <a:t>d</a:t>
            </a:r>
            <a:r>
              <a:rPr sz="4050" spc="-125" dirty="0"/>
              <a:t>eploy</a:t>
            </a:r>
            <a:r>
              <a:rPr sz="4050" spc="305" dirty="0"/>
              <a:t> </a:t>
            </a:r>
            <a:r>
              <a:rPr sz="4050" spc="-20" dirty="0"/>
              <a:t>the</a:t>
            </a:r>
            <a:r>
              <a:rPr sz="4050" spc="355" dirty="0"/>
              <a:t> </a:t>
            </a:r>
            <a:r>
              <a:rPr sz="4050" spc="-630" dirty="0"/>
              <a:t>mesh</a:t>
            </a:r>
            <a:r>
              <a:rPr sz="4050" spc="400" dirty="0"/>
              <a:t> </a:t>
            </a:r>
            <a:r>
              <a:rPr sz="4050" spc="-660" dirty="0"/>
              <a:t>on</a:t>
            </a:r>
            <a:endParaRPr sz="4050"/>
          </a:p>
        </p:txBody>
      </p:sp>
      <p:sp>
        <p:nvSpPr>
          <p:cNvPr id="9" name="object 9"/>
          <p:cNvSpPr txBox="1"/>
          <p:nvPr/>
        </p:nvSpPr>
        <p:spPr>
          <a:xfrm>
            <a:off x="455300" y="622467"/>
            <a:ext cx="3963670" cy="647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050" spc="-265" dirty="0">
                <a:solidFill>
                  <a:srgbClr val="C9F5CF"/>
                </a:solidFill>
                <a:latin typeface="Calibri"/>
                <a:cs typeface="Calibri"/>
              </a:rPr>
              <a:t>your</a:t>
            </a:r>
            <a:r>
              <a:rPr sz="4050" spc="715" dirty="0">
                <a:solidFill>
                  <a:srgbClr val="C9F5CF"/>
                </a:solidFill>
                <a:latin typeface="Calibri"/>
                <a:cs typeface="Calibri"/>
              </a:rPr>
              <a:t> </a:t>
            </a:r>
            <a:r>
              <a:rPr sz="4050" spc="-765" dirty="0">
                <a:solidFill>
                  <a:srgbClr val="C9F5CF"/>
                </a:solidFill>
                <a:latin typeface="Calibri"/>
                <a:cs typeface="Calibri"/>
              </a:rPr>
              <a:t>own</a:t>
            </a:r>
            <a:r>
              <a:rPr sz="4050" spc="715" dirty="0">
                <a:solidFill>
                  <a:srgbClr val="C9F5CF"/>
                </a:solidFill>
                <a:latin typeface="Calibri"/>
                <a:cs typeface="Calibri"/>
              </a:rPr>
              <a:t> </a:t>
            </a:r>
            <a:r>
              <a:rPr sz="4050" spc="-55" dirty="0">
                <a:solidFill>
                  <a:srgbClr val="C9F5CF"/>
                </a:solidFill>
                <a:latin typeface="Calibri"/>
                <a:cs typeface="Calibri"/>
              </a:rPr>
              <a:t>repository</a:t>
            </a:r>
            <a:endParaRPr sz="405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46405" y="1429081"/>
            <a:ext cx="3235325" cy="335915"/>
          </a:xfrm>
          <a:custGeom>
            <a:avLst/>
            <a:gdLst/>
            <a:ahLst/>
            <a:cxnLst/>
            <a:rect l="l" t="t" r="r" b="b"/>
            <a:pathLst>
              <a:path w="3235325" h="335914">
                <a:moveTo>
                  <a:pt x="1494028" y="215036"/>
                </a:moveTo>
                <a:lnTo>
                  <a:pt x="1492326" y="206629"/>
                </a:lnTo>
                <a:lnTo>
                  <a:pt x="1487703" y="199771"/>
                </a:lnTo>
                <a:lnTo>
                  <a:pt x="1480845" y="195148"/>
                </a:lnTo>
                <a:lnTo>
                  <a:pt x="1472438" y="193446"/>
                </a:lnTo>
                <a:lnTo>
                  <a:pt x="21590" y="193446"/>
                </a:lnTo>
                <a:lnTo>
                  <a:pt x="13182" y="195148"/>
                </a:lnTo>
                <a:lnTo>
                  <a:pt x="6324" y="199771"/>
                </a:lnTo>
                <a:lnTo>
                  <a:pt x="1689" y="206629"/>
                </a:lnTo>
                <a:lnTo>
                  <a:pt x="0" y="215036"/>
                </a:lnTo>
                <a:lnTo>
                  <a:pt x="0" y="314096"/>
                </a:lnTo>
                <a:lnTo>
                  <a:pt x="1689" y="322491"/>
                </a:lnTo>
                <a:lnTo>
                  <a:pt x="6324" y="329361"/>
                </a:lnTo>
                <a:lnTo>
                  <a:pt x="13182" y="333984"/>
                </a:lnTo>
                <a:lnTo>
                  <a:pt x="21590" y="335686"/>
                </a:lnTo>
                <a:lnTo>
                  <a:pt x="1472438" y="335686"/>
                </a:lnTo>
                <a:lnTo>
                  <a:pt x="1480845" y="333984"/>
                </a:lnTo>
                <a:lnTo>
                  <a:pt x="1487703" y="329361"/>
                </a:lnTo>
                <a:lnTo>
                  <a:pt x="1492326" y="322491"/>
                </a:lnTo>
                <a:lnTo>
                  <a:pt x="1494028" y="314096"/>
                </a:lnTo>
                <a:lnTo>
                  <a:pt x="1494028" y="215036"/>
                </a:lnTo>
                <a:close/>
              </a:path>
              <a:path w="3235325" h="335914">
                <a:moveTo>
                  <a:pt x="3235045" y="21590"/>
                </a:moveTo>
                <a:lnTo>
                  <a:pt x="3233343" y="13182"/>
                </a:lnTo>
                <a:lnTo>
                  <a:pt x="3228721" y="6324"/>
                </a:lnTo>
                <a:lnTo>
                  <a:pt x="3221863" y="1701"/>
                </a:lnTo>
                <a:lnTo>
                  <a:pt x="3213455" y="0"/>
                </a:lnTo>
                <a:lnTo>
                  <a:pt x="21590" y="0"/>
                </a:lnTo>
                <a:lnTo>
                  <a:pt x="13182" y="1701"/>
                </a:lnTo>
                <a:lnTo>
                  <a:pt x="6324" y="6324"/>
                </a:lnTo>
                <a:lnTo>
                  <a:pt x="1689" y="13182"/>
                </a:lnTo>
                <a:lnTo>
                  <a:pt x="0" y="21590"/>
                </a:lnTo>
                <a:lnTo>
                  <a:pt x="0" y="120650"/>
                </a:lnTo>
                <a:lnTo>
                  <a:pt x="1689" y="129044"/>
                </a:lnTo>
                <a:lnTo>
                  <a:pt x="6324" y="135915"/>
                </a:lnTo>
                <a:lnTo>
                  <a:pt x="13182" y="140538"/>
                </a:lnTo>
                <a:lnTo>
                  <a:pt x="21590" y="142240"/>
                </a:lnTo>
                <a:lnTo>
                  <a:pt x="3213455" y="142240"/>
                </a:lnTo>
                <a:lnTo>
                  <a:pt x="3221863" y="140538"/>
                </a:lnTo>
                <a:lnTo>
                  <a:pt x="3228721" y="135915"/>
                </a:lnTo>
                <a:lnTo>
                  <a:pt x="3233343" y="129044"/>
                </a:lnTo>
                <a:lnTo>
                  <a:pt x="3235045" y="120650"/>
                </a:lnTo>
                <a:lnTo>
                  <a:pt x="3235045" y="21590"/>
                </a:lnTo>
                <a:close/>
              </a:path>
            </a:pathLst>
          </a:custGeom>
          <a:solidFill>
            <a:srgbClr val="1626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55300" y="1368401"/>
            <a:ext cx="4015740" cy="799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5800"/>
              </a:lnSpc>
              <a:spcBef>
                <a:spcPts val="100"/>
              </a:spcBef>
            </a:pPr>
            <a:r>
              <a:rPr sz="950" dirty="0">
                <a:solidFill>
                  <a:srgbClr val="C9F5CF"/>
                </a:solidFill>
                <a:latin typeface="Courier New"/>
                <a:cs typeface="Courier New"/>
              </a:rPr>
              <a:t>pip</a:t>
            </a:r>
            <a:r>
              <a:rPr sz="950" spc="-40" dirty="0">
                <a:solidFill>
                  <a:srgbClr val="C9F5CF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9F5CF"/>
                </a:solidFill>
                <a:latin typeface="Courier New"/>
                <a:cs typeface="Courier New"/>
              </a:rPr>
              <a:t>install</a:t>
            </a:r>
            <a:r>
              <a:rPr sz="950" spc="-40" dirty="0">
                <a:solidFill>
                  <a:srgbClr val="C9F5CF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9F5CF"/>
                </a:solidFill>
                <a:latin typeface="Courier New"/>
                <a:cs typeface="Courier New"/>
              </a:rPr>
              <a:t>streamlit</a:t>
            </a:r>
            <a:r>
              <a:rPr sz="950" spc="-35" dirty="0">
                <a:solidFill>
                  <a:srgbClr val="C9F5CF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9F5CF"/>
                </a:solidFill>
                <a:latin typeface="Courier New"/>
                <a:cs typeface="Courier New"/>
              </a:rPr>
              <a:t>pandas</a:t>
            </a:r>
            <a:r>
              <a:rPr sz="950" spc="-40" dirty="0">
                <a:solidFill>
                  <a:srgbClr val="C9F5CF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9F5CF"/>
                </a:solidFill>
                <a:latin typeface="Courier New"/>
                <a:cs typeface="Courier New"/>
              </a:rPr>
              <a:t>fastapi</a:t>
            </a:r>
            <a:r>
              <a:rPr sz="950" spc="-40" dirty="0">
                <a:solidFill>
                  <a:srgbClr val="C9F5CF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9F5CF"/>
                </a:solidFill>
                <a:latin typeface="Courier New"/>
                <a:cs typeface="Courier New"/>
              </a:rPr>
              <a:t>uvicorn</a:t>
            </a:r>
            <a:r>
              <a:rPr sz="1200" dirty="0">
                <a:solidFill>
                  <a:srgbClr val="74A982"/>
                </a:solidFill>
                <a:latin typeface="Courier New"/>
                <a:cs typeface="Courier New"/>
              </a:rPr>
              <a:t>,</a:t>
            </a:r>
            <a:r>
              <a:rPr sz="1200" spc="-55" dirty="0">
                <a:solidFill>
                  <a:srgbClr val="74A982"/>
                </a:solidFill>
                <a:latin typeface="Courier New"/>
                <a:cs typeface="Courier New"/>
              </a:rPr>
              <a:t> </a:t>
            </a:r>
            <a:r>
              <a:rPr sz="1200" spc="-20" dirty="0">
                <a:solidFill>
                  <a:srgbClr val="74A982"/>
                </a:solidFill>
                <a:latin typeface="Courier New"/>
                <a:cs typeface="Courier New"/>
              </a:rPr>
              <a:t>then </a:t>
            </a:r>
            <a:r>
              <a:rPr sz="950" dirty="0">
                <a:solidFill>
                  <a:srgbClr val="C9F5CF"/>
                </a:solidFill>
                <a:latin typeface="Courier New"/>
                <a:cs typeface="Courier New"/>
              </a:rPr>
              <a:t>streamlit</a:t>
            </a:r>
            <a:r>
              <a:rPr sz="950" spc="-40" dirty="0">
                <a:solidFill>
                  <a:srgbClr val="C9F5CF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9F5CF"/>
                </a:solidFill>
                <a:latin typeface="Courier New"/>
                <a:cs typeface="Courier New"/>
              </a:rPr>
              <a:t>run</a:t>
            </a:r>
            <a:r>
              <a:rPr sz="950" spc="-35" dirty="0">
                <a:solidFill>
                  <a:srgbClr val="C9F5CF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C9F5CF"/>
                </a:solidFill>
                <a:latin typeface="Courier New"/>
                <a:cs typeface="Courier New"/>
              </a:rPr>
              <a:t>app.py</a:t>
            </a:r>
            <a:r>
              <a:rPr sz="950" spc="90" dirty="0">
                <a:solidFill>
                  <a:srgbClr val="C9F5C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74A982"/>
                </a:solidFill>
                <a:latin typeface="Courier New"/>
                <a:cs typeface="Courier New"/>
              </a:rPr>
              <a:t>on</a:t>
            </a:r>
            <a:r>
              <a:rPr sz="1200" spc="-55" dirty="0">
                <a:solidFill>
                  <a:srgbClr val="74A982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74A982"/>
                </a:solidFill>
                <a:latin typeface="Courier New"/>
                <a:cs typeface="Courier New"/>
              </a:rPr>
              <a:t>a</a:t>
            </a:r>
            <a:r>
              <a:rPr sz="1200" spc="-55" dirty="0">
                <a:solidFill>
                  <a:srgbClr val="74A982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74A982"/>
                </a:solidFill>
                <a:latin typeface="Courier New"/>
                <a:cs typeface="Courier New"/>
              </a:rPr>
              <a:t>target</a:t>
            </a:r>
            <a:r>
              <a:rPr sz="1200" spc="-60" dirty="0">
                <a:solidFill>
                  <a:srgbClr val="74A982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74A982"/>
                </a:solidFill>
                <a:latin typeface="Courier New"/>
                <a:cs typeface="Courier New"/>
              </a:rPr>
              <a:t>path;</a:t>
            </a:r>
            <a:r>
              <a:rPr sz="1200" spc="-55" dirty="0">
                <a:solidFill>
                  <a:srgbClr val="74A982"/>
                </a:solidFill>
                <a:latin typeface="Courier New"/>
                <a:cs typeface="Courier New"/>
              </a:rPr>
              <a:t> </a:t>
            </a:r>
            <a:r>
              <a:rPr sz="1200" spc="-25" dirty="0">
                <a:solidFill>
                  <a:srgbClr val="74A982"/>
                </a:solidFill>
                <a:latin typeface="Courier New"/>
                <a:cs typeface="Courier New"/>
              </a:rPr>
              <a:t>the </a:t>
            </a:r>
            <a:r>
              <a:rPr sz="1200" dirty="0">
                <a:solidFill>
                  <a:srgbClr val="74A982"/>
                </a:solidFill>
                <a:latin typeface="Courier New"/>
                <a:cs typeface="Courier New"/>
              </a:rPr>
              <a:t>backend,</a:t>
            </a:r>
            <a:r>
              <a:rPr sz="1200" spc="-105" dirty="0">
                <a:solidFill>
                  <a:srgbClr val="74A982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74A982"/>
                </a:solidFill>
                <a:latin typeface="Courier New"/>
                <a:cs typeface="Courier New"/>
              </a:rPr>
              <a:t>canary</a:t>
            </a:r>
            <a:r>
              <a:rPr sz="1200" spc="-105" dirty="0">
                <a:solidFill>
                  <a:srgbClr val="74A982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74A982"/>
                </a:solidFill>
                <a:latin typeface="Courier New"/>
                <a:cs typeface="Courier New"/>
              </a:rPr>
              <a:t>listener</a:t>
            </a:r>
            <a:r>
              <a:rPr sz="1200" spc="-100" dirty="0">
                <a:solidFill>
                  <a:srgbClr val="74A982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74A982"/>
                </a:solidFill>
                <a:latin typeface="Courier New"/>
                <a:cs typeface="Courier New"/>
              </a:rPr>
              <a:t>and</a:t>
            </a:r>
            <a:r>
              <a:rPr sz="1200" spc="-105" dirty="0">
                <a:solidFill>
                  <a:srgbClr val="74A982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74A982"/>
                </a:solidFill>
                <a:latin typeface="Courier New"/>
                <a:cs typeface="Courier New"/>
              </a:rPr>
              <a:t>Next.js</a:t>
            </a:r>
            <a:r>
              <a:rPr sz="1200" spc="-100" dirty="0">
                <a:solidFill>
                  <a:srgbClr val="74A982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74A982"/>
                </a:solidFill>
                <a:latin typeface="Courier New"/>
                <a:cs typeface="Courier New"/>
              </a:rPr>
              <a:t>console </a:t>
            </a:r>
            <a:r>
              <a:rPr sz="1200" dirty="0">
                <a:solidFill>
                  <a:srgbClr val="74A982"/>
                </a:solidFill>
                <a:latin typeface="Courier New"/>
                <a:cs typeface="Courier New"/>
              </a:rPr>
              <a:t>run</a:t>
            </a:r>
            <a:r>
              <a:rPr sz="1200" spc="-75" dirty="0">
                <a:solidFill>
                  <a:srgbClr val="74A982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74A982"/>
                </a:solidFill>
                <a:latin typeface="Courier New"/>
                <a:cs typeface="Courier New"/>
              </a:rPr>
              <a:t>as</a:t>
            </a:r>
            <a:r>
              <a:rPr sz="1200" spc="-75" dirty="0">
                <a:solidFill>
                  <a:srgbClr val="74A982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74A982"/>
                </a:solidFill>
                <a:latin typeface="Courier New"/>
                <a:cs typeface="Courier New"/>
              </a:rPr>
              <a:t>separate</a:t>
            </a:r>
            <a:r>
              <a:rPr sz="1200" spc="-70" dirty="0">
                <a:solidFill>
                  <a:srgbClr val="74A982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74A982"/>
                </a:solidFill>
                <a:latin typeface="Courier New"/>
                <a:cs typeface="Courier New"/>
              </a:rPr>
              <a:t>services.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68000" y="2534871"/>
            <a:ext cx="323850" cy="27305"/>
          </a:xfrm>
          <a:custGeom>
            <a:avLst/>
            <a:gdLst/>
            <a:ahLst/>
            <a:cxnLst/>
            <a:rect l="l" t="t" r="r" b="b"/>
            <a:pathLst>
              <a:path w="323850" h="27305">
                <a:moveTo>
                  <a:pt x="323850" y="26987"/>
                </a:moveTo>
                <a:lnTo>
                  <a:pt x="0" y="26987"/>
                </a:lnTo>
                <a:lnTo>
                  <a:pt x="0" y="0"/>
                </a:lnTo>
                <a:lnTo>
                  <a:pt x="323850" y="0"/>
                </a:lnTo>
                <a:lnTo>
                  <a:pt x="323850" y="26987"/>
                </a:lnTo>
                <a:close/>
              </a:path>
            </a:pathLst>
          </a:custGeom>
          <a:solidFill>
            <a:srgbClr val="4BF07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55300" y="2734454"/>
            <a:ext cx="3646800" cy="1500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IN" sz="900" spc="-10" dirty="0">
                <a:solidFill>
                  <a:srgbClr val="C9F5CF"/>
                </a:solidFill>
                <a:latin typeface="Courier New"/>
                <a:cs typeface="Courier New"/>
              </a:rPr>
              <a:t>https://</a:t>
            </a:r>
            <a:r>
              <a:rPr sz="900" spc="-10" dirty="0">
                <a:solidFill>
                  <a:srgbClr val="C9F5CF"/>
                </a:solidFill>
                <a:latin typeface="Courier New"/>
                <a:cs typeface="Courier New"/>
              </a:rPr>
              <a:t>github.com/LY-UtkarshMishra-09/SpectreSync</a:t>
            </a:r>
            <a:endParaRPr sz="9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AAAAAA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448</Words>
  <Application>Microsoft Office PowerPoint</Application>
  <PresentationFormat>Custom</PresentationFormat>
  <Paragraphs>79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Calibri</vt:lpstr>
      <vt:lpstr>Courier New</vt:lpstr>
      <vt:lpstr>Office Theme</vt:lpstr>
      <vt:lpstr>SpectreSync</vt:lpstr>
      <vt:lpstr>$ detection starts after the incident</vt:lpstr>
      <vt:lpstr>$ Three agents watch one perimeter</vt:lpstr>
      <vt:lpstr>$ Six steps turn a repo into a trap field</vt:lpstr>
      <vt:lpstr>PowerPoint Presentation</vt:lpstr>
      <vt:lpstr>PowerPoint Presentation</vt:lpstr>
      <vt:lpstr>$ High-risk fixes wait for approval</vt:lpstr>
      <vt:lpstr>PowerPoint Presentation</vt:lpstr>
      <vt:lpstr>deploy the mesh 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SpectreSync</dc:title>
  <dc:creator>Utkarsh Mishra</dc:creator>
  <cp:lastModifiedBy>Utkarsh Mishra</cp:lastModifiedBy>
  <cp:revision>1</cp:revision>
  <dcterms:created xsi:type="dcterms:W3CDTF">2026-10-20T11:30:35Z</dcterms:created>
  <dcterms:modified xsi:type="dcterms:W3CDTF">2026-10-20T11:33:44Z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2026-10-20T00:00:00Z</vt:filetime>
  </property>
  <property fmtid="{D5CDD505-2E9C-101B-9397-08002B2CF9AE}" pid="4" name="Creator">
    <vt:lpwstr>Typst 0.15.1</vt:lpwstr>
  </property>
  <property fmtid="{D5CDD505-2E9C-101B-9397-08002B2CF9AE}" pid="5" name="LastSaved">
    <vt:filetime>2026-10-20T00:00:00Z</vt:filetime>
  </property>
</Properties>
</file>